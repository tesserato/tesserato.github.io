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41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30-Jul-18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30-Jul-18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30-Jul-18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30-Jul-18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30-Jul-18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617160" y="0"/>
            <a:ext cx="76835" cy="7548880"/>
          </a:xfrm>
          <a:custGeom>
            <a:avLst/>
            <a:gdLst/>
            <a:ahLst/>
            <a:cxnLst/>
            <a:rect l="l" t="t" r="r" b="b"/>
            <a:pathLst>
              <a:path w="76834" h="7548880">
                <a:moveTo>
                  <a:pt x="0" y="7548283"/>
                </a:moveTo>
                <a:lnTo>
                  <a:pt x="76239" y="7548283"/>
                </a:lnTo>
                <a:lnTo>
                  <a:pt x="76239" y="0"/>
                </a:lnTo>
                <a:lnTo>
                  <a:pt x="0" y="0"/>
                </a:lnTo>
                <a:lnTo>
                  <a:pt x="0" y="7548283"/>
                </a:lnTo>
                <a:close/>
              </a:path>
            </a:pathLst>
          </a:custGeom>
          <a:solidFill>
            <a:srgbClr val="2C31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76835" cy="7548880"/>
          </a:xfrm>
          <a:custGeom>
            <a:avLst/>
            <a:gdLst/>
            <a:ahLst/>
            <a:cxnLst/>
            <a:rect l="l" t="t" r="r" b="b"/>
            <a:pathLst>
              <a:path w="76835" h="7548880">
                <a:moveTo>
                  <a:pt x="0" y="7548283"/>
                </a:moveTo>
                <a:lnTo>
                  <a:pt x="76245" y="7548283"/>
                </a:lnTo>
                <a:lnTo>
                  <a:pt x="76245" y="0"/>
                </a:lnTo>
                <a:lnTo>
                  <a:pt x="0" y="0"/>
                </a:lnTo>
                <a:lnTo>
                  <a:pt x="0" y="7548283"/>
                </a:lnTo>
                <a:close/>
              </a:path>
            </a:pathLst>
          </a:custGeom>
          <a:solidFill>
            <a:srgbClr val="2C31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0511" y="313788"/>
            <a:ext cx="10074910" cy="525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30-Jul-18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3545" y="264642"/>
            <a:ext cx="10392410" cy="5840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>
              <a:lnSpc>
                <a:spcPct val="100000"/>
              </a:lnSpc>
              <a:spcBef>
                <a:spcPts val="95"/>
              </a:spcBef>
            </a:pPr>
            <a:r>
              <a:rPr sz="2700" b="1" spc="-195" dirty="0">
                <a:solidFill>
                  <a:srgbClr val="FFFFFF"/>
                </a:solidFill>
                <a:latin typeface="Verdana"/>
                <a:cs typeface="Verdana"/>
              </a:rPr>
              <a:t>UNIVERSIDADE </a:t>
            </a:r>
            <a:r>
              <a:rPr sz="2700" b="1" spc="-80" dirty="0">
                <a:solidFill>
                  <a:srgbClr val="FFFFFF"/>
                </a:solidFill>
                <a:latin typeface="Verdana"/>
                <a:cs typeface="Verdana"/>
              </a:rPr>
              <a:t>FEDERAL</a:t>
            </a:r>
            <a:r>
              <a:rPr sz="2700" b="1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spc="-145" dirty="0">
                <a:solidFill>
                  <a:srgbClr val="FFFFFF"/>
                </a:solidFill>
                <a:latin typeface="Verdana"/>
                <a:cs typeface="Verdana"/>
              </a:rPr>
              <a:t>FLUMINENSE</a:t>
            </a:r>
            <a:endParaRPr sz="2700">
              <a:latin typeface="Verdana"/>
              <a:cs typeface="Verdana"/>
            </a:endParaRPr>
          </a:p>
          <a:p>
            <a:pPr marL="696595">
              <a:lnSpc>
                <a:spcPct val="100000"/>
              </a:lnSpc>
              <a:spcBef>
                <a:spcPts val="2760"/>
              </a:spcBef>
            </a:pPr>
            <a:r>
              <a:rPr sz="2700" spc="20" dirty="0">
                <a:solidFill>
                  <a:srgbClr val="FFFFFF"/>
                </a:solidFill>
                <a:latin typeface="Verdana"/>
                <a:cs typeface="Verdana"/>
              </a:rPr>
              <a:t>ESCOLA </a:t>
            </a:r>
            <a:r>
              <a:rPr sz="2700" spc="12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700" spc="-5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Verdana"/>
                <a:cs typeface="Verdana"/>
              </a:rPr>
              <a:t>ENGENHARIA</a:t>
            </a:r>
            <a:endParaRPr sz="2700">
              <a:latin typeface="Verdana"/>
              <a:cs typeface="Verdana"/>
            </a:endParaRPr>
          </a:p>
          <a:p>
            <a:pPr marL="12700" marR="5080" indent="683895">
              <a:lnSpc>
                <a:spcPct val="101899"/>
              </a:lnSpc>
              <a:spcBef>
                <a:spcPts val="2705"/>
              </a:spcBef>
            </a:pPr>
            <a:r>
              <a:rPr sz="2700" spc="114" dirty="0">
                <a:solidFill>
                  <a:srgbClr val="FFFFFF"/>
                </a:solidFill>
                <a:latin typeface="Verdana"/>
                <a:cs typeface="Verdana"/>
              </a:rPr>
              <a:t>PROGRAMA</a:t>
            </a:r>
            <a:r>
              <a:rPr sz="27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12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7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45" dirty="0">
                <a:solidFill>
                  <a:srgbClr val="FFFFFF"/>
                </a:solidFill>
                <a:latin typeface="Verdana"/>
                <a:cs typeface="Verdana"/>
              </a:rPr>
              <a:t>PÓS-GRADUAÇÃO</a:t>
            </a:r>
            <a:r>
              <a:rPr sz="27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195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27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Verdana"/>
                <a:cs typeface="Verdana"/>
              </a:rPr>
              <a:t>ENGENHARIA</a:t>
            </a:r>
            <a:r>
              <a:rPr sz="27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120" dirty="0">
                <a:solidFill>
                  <a:srgbClr val="FFFFFF"/>
                </a:solidFill>
                <a:latin typeface="Verdana"/>
                <a:cs typeface="Verdana"/>
              </a:rPr>
              <a:t>DE  </a:t>
            </a:r>
            <a:r>
              <a:rPr sz="2700" spc="110" dirty="0">
                <a:solidFill>
                  <a:srgbClr val="FFFFFF"/>
                </a:solidFill>
                <a:latin typeface="Verdana"/>
                <a:cs typeface="Verdana"/>
              </a:rPr>
              <a:t>PRODUÇÃO</a:t>
            </a:r>
            <a:endParaRPr sz="2700">
              <a:latin typeface="Verdana"/>
              <a:cs typeface="Verdana"/>
            </a:endParaRPr>
          </a:p>
          <a:p>
            <a:pPr marL="12700" marR="180975" indent="683895">
              <a:lnSpc>
                <a:spcPct val="101899"/>
              </a:lnSpc>
              <a:spcBef>
                <a:spcPts val="2625"/>
              </a:spcBef>
            </a:pPr>
            <a:r>
              <a:rPr sz="2700" b="1" spc="-185" dirty="0">
                <a:solidFill>
                  <a:srgbClr val="FFFFFF"/>
                </a:solidFill>
                <a:latin typeface="Verdana"/>
                <a:cs typeface="Verdana"/>
              </a:rPr>
              <a:t>Redes </a:t>
            </a:r>
            <a:r>
              <a:rPr sz="2700" b="1" spc="-215" dirty="0">
                <a:solidFill>
                  <a:srgbClr val="FFFFFF"/>
                </a:solidFill>
                <a:latin typeface="Verdana"/>
                <a:cs typeface="Verdana"/>
              </a:rPr>
              <a:t>Neurais </a:t>
            </a:r>
            <a:r>
              <a:rPr sz="2700" b="1" spc="-185" dirty="0">
                <a:solidFill>
                  <a:srgbClr val="FFFFFF"/>
                </a:solidFill>
                <a:latin typeface="Verdana"/>
                <a:cs typeface="Verdana"/>
              </a:rPr>
              <a:t>Aplicadas </a:t>
            </a:r>
            <a:r>
              <a:rPr sz="2700" b="1" spc="-235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2700" b="1" spc="-125" dirty="0">
                <a:solidFill>
                  <a:srgbClr val="FFFFFF"/>
                </a:solidFill>
                <a:latin typeface="Verdana"/>
                <a:cs typeface="Verdana"/>
              </a:rPr>
              <a:t>Modelagem </a:t>
            </a:r>
            <a:r>
              <a:rPr sz="2700" b="1" spc="-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700" b="1" spc="-4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spc="-225" dirty="0">
                <a:solidFill>
                  <a:srgbClr val="FFFFFF"/>
                </a:solidFill>
                <a:latin typeface="Verdana"/>
                <a:cs typeface="Verdana"/>
              </a:rPr>
              <a:t>Instrumentos  </a:t>
            </a:r>
            <a:r>
              <a:rPr sz="2700" b="1" spc="-195" dirty="0">
                <a:solidFill>
                  <a:srgbClr val="FFFFFF"/>
                </a:solidFill>
                <a:latin typeface="Verdana"/>
                <a:cs typeface="Verdana"/>
              </a:rPr>
              <a:t>Acústicos </a:t>
            </a:r>
            <a:r>
              <a:rPr sz="2700" b="1" spc="-215" dirty="0">
                <a:solidFill>
                  <a:srgbClr val="FFFFFF"/>
                </a:solidFill>
                <a:latin typeface="Verdana"/>
                <a:cs typeface="Verdana"/>
              </a:rPr>
              <a:t>para Síntese </a:t>
            </a:r>
            <a:r>
              <a:rPr sz="2700" b="1" spc="-220" dirty="0">
                <a:solidFill>
                  <a:srgbClr val="FFFFFF"/>
                </a:solidFill>
                <a:latin typeface="Verdana"/>
                <a:cs typeface="Verdana"/>
              </a:rPr>
              <a:t>Sonora </a:t>
            </a:r>
            <a:r>
              <a:rPr sz="2700" b="1" spc="-90" dirty="0">
                <a:solidFill>
                  <a:srgbClr val="FFFFFF"/>
                </a:solidFill>
                <a:latin typeface="Verdana"/>
                <a:cs typeface="Verdana"/>
              </a:rPr>
              <a:t>em </a:t>
            </a:r>
            <a:r>
              <a:rPr sz="2700" b="1" spc="-185" dirty="0">
                <a:solidFill>
                  <a:srgbClr val="FFFFFF"/>
                </a:solidFill>
                <a:latin typeface="Verdana"/>
                <a:cs typeface="Verdana"/>
              </a:rPr>
              <a:t>Tempo</a:t>
            </a:r>
            <a:r>
              <a:rPr sz="2700" b="1" spc="-4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spc="-215" dirty="0">
                <a:solidFill>
                  <a:srgbClr val="FFFFFF"/>
                </a:solidFill>
                <a:latin typeface="Verdana"/>
                <a:cs typeface="Verdana"/>
              </a:rPr>
              <a:t>Real</a:t>
            </a:r>
            <a:endParaRPr sz="2700">
              <a:latin typeface="Verdana"/>
              <a:cs typeface="Verdana"/>
            </a:endParaRPr>
          </a:p>
          <a:p>
            <a:pPr marL="696595">
              <a:lnSpc>
                <a:spcPct val="100000"/>
              </a:lnSpc>
              <a:spcBef>
                <a:spcPts val="2765"/>
              </a:spcBef>
            </a:pPr>
            <a:r>
              <a:rPr sz="2700" spc="-50" dirty="0">
                <a:solidFill>
                  <a:srgbClr val="FFFFFF"/>
                </a:solidFill>
                <a:latin typeface="Verdana"/>
                <a:cs typeface="Verdana"/>
              </a:rPr>
              <a:t>Carlos</a:t>
            </a:r>
            <a:r>
              <a:rPr sz="27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75" dirty="0">
                <a:solidFill>
                  <a:srgbClr val="FFFFFF"/>
                </a:solidFill>
                <a:latin typeface="Verdana"/>
                <a:cs typeface="Verdana"/>
              </a:rPr>
              <a:t>Tarjano</a:t>
            </a:r>
            <a:endParaRPr sz="2700">
              <a:latin typeface="Verdana"/>
              <a:cs typeface="Verdana"/>
            </a:endParaRPr>
          </a:p>
          <a:p>
            <a:pPr marL="696595" marR="3665854">
              <a:lnSpc>
                <a:spcPct val="185300"/>
              </a:lnSpc>
            </a:pPr>
            <a:r>
              <a:rPr sz="2700" spc="-55" dirty="0">
                <a:solidFill>
                  <a:srgbClr val="FFFFFF"/>
                </a:solidFill>
                <a:latin typeface="Verdana"/>
                <a:cs typeface="Verdana"/>
              </a:rPr>
              <a:t>Orientador:</a:t>
            </a:r>
            <a:r>
              <a:rPr sz="27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85" dirty="0">
                <a:solidFill>
                  <a:srgbClr val="FFFFFF"/>
                </a:solidFill>
                <a:latin typeface="Verdana"/>
                <a:cs typeface="Verdana"/>
              </a:rPr>
              <a:t>Prof.</a:t>
            </a:r>
            <a:r>
              <a:rPr sz="27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FFFFFF"/>
                </a:solidFill>
                <a:latin typeface="Verdana"/>
                <a:cs typeface="Verdana"/>
              </a:rPr>
              <a:t>Dr.</a:t>
            </a:r>
            <a:r>
              <a:rPr sz="27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0" dirty="0">
                <a:solidFill>
                  <a:srgbClr val="FFFFFF"/>
                </a:solidFill>
                <a:latin typeface="Verdana"/>
                <a:cs typeface="Verdana"/>
              </a:rPr>
              <a:t>Valdecy</a:t>
            </a:r>
            <a:r>
              <a:rPr sz="27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5" dirty="0">
                <a:solidFill>
                  <a:srgbClr val="FFFFFF"/>
                </a:solidFill>
                <a:latin typeface="Verdana"/>
                <a:cs typeface="Verdana"/>
              </a:rPr>
              <a:t>Pereira  </a:t>
            </a:r>
            <a:r>
              <a:rPr sz="2700" spc="-65" dirty="0">
                <a:solidFill>
                  <a:srgbClr val="FFFFFF"/>
                </a:solidFill>
                <a:latin typeface="Verdana"/>
                <a:cs typeface="Verdana"/>
              </a:rPr>
              <a:t>Niterói, </a:t>
            </a:r>
            <a:r>
              <a:rPr sz="2700" spc="-490" dirty="0">
                <a:solidFill>
                  <a:srgbClr val="FFFFFF"/>
                </a:solidFill>
                <a:latin typeface="Verdana"/>
                <a:cs typeface="Verdana"/>
              </a:rPr>
              <a:t>31 </a:t>
            </a:r>
            <a:r>
              <a:rPr sz="2700" spc="-365" dirty="0">
                <a:solidFill>
                  <a:srgbClr val="FFFFFF"/>
                </a:solidFill>
                <a:latin typeface="Verdana"/>
                <a:cs typeface="Verdana"/>
              </a:rPr>
              <a:t>/ </a:t>
            </a:r>
            <a:r>
              <a:rPr sz="2700" spc="-60" dirty="0">
                <a:solidFill>
                  <a:srgbClr val="FFFFFF"/>
                </a:solidFill>
                <a:latin typeface="Verdana"/>
                <a:cs typeface="Verdana"/>
              </a:rPr>
              <a:t>07 </a:t>
            </a:r>
            <a:r>
              <a:rPr sz="2700" spc="-365" dirty="0">
                <a:solidFill>
                  <a:srgbClr val="FFFFFF"/>
                </a:solidFill>
                <a:latin typeface="Verdana"/>
                <a:cs typeface="Verdana"/>
              </a:rPr>
              <a:t>/</a:t>
            </a:r>
            <a:r>
              <a:rPr sz="27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40" dirty="0">
                <a:solidFill>
                  <a:srgbClr val="FFFFFF"/>
                </a:solidFill>
                <a:latin typeface="Verdana"/>
                <a:cs typeface="Verdana"/>
              </a:rPr>
              <a:t>2018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45" y="188209"/>
            <a:ext cx="10391775" cy="6061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69240">
              <a:lnSpc>
                <a:spcPct val="100000"/>
              </a:lnSpc>
              <a:spcBef>
                <a:spcPts val="120"/>
              </a:spcBef>
            </a:pPr>
            <a:r>
              <a:rPr sz="2000" b="1" spc="-120" dirty="0">
                <a:solidFill>
                  <a:srgbClr val="FFFFFF"/>
                </a:solidFill>
                <a:latin typeface="Verdana"/>
                <a:cs typeface="Verdana"/>
              </a:rPr>
              <a:t>Introdução</a:t>
            </a:r>
            <a:endParaRPr sz="2000">
              <a:latin typeface="Verdana"/>
              <a:cs typeface="Verdana"/>
            </a:endParaRPr>
          </a:p>
          <a:p>
            <a:pPr marL="12700" marR="1322705" indent="256540">
              <a:lnSpc>
                <a:spcPct val="103200"/>
              </a:lnSpc>
              <a:spcBef>
                <a:spcPts val="1725"/>
              </a:spcBef>
            </a:pPr>
            <a:r>
              <a:rPr sz="2000" b="1" spc="-135" dirty="0">
                <a:solidFill>
                  <a:srgbClr val="FFFFFF"/>
                </a:solidFill>
                <a:latin typeface="Verdana"/>
                <a:cs typeface="Verdana"/>
              </a:rPr>
              <a:t>Objetivo:</a:t>
            </a:r>
            <a:r>
              <a:rPr sz="2000" b="1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Verdana"/>
                <a:cs typeface="Verdana"/>
              </a:rPr>
              <a:t>Elaborar</a:t>
            </a:r>
            <a:r>
              <a:rPr sz="2000" b="1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Verdana"/>
                <a:cs typeface="Verdana"/>
              </a:rPr>
              <a:t>um</a:t>
            </a:r>
            <a:r>
              <a:rPr sz="2000" b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65" dirty="0">
                <a:solidFill>
                  <a:srgbClr val="FFFFFF"/>
                </a:solidFill>
                <a:latin typeface="Verdana"/>
                <a:cs typeface="Verdana"/>
              </a:rPr>
              <a:t>modelo</a:t>
            </a:r>
            <a:r>
              <a:rPr sz="2000" b="1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Verdana"/>
                <a:cs typeface="Verdana"/>
              </a:rPr>
              <a:t>baseado</a:t>
            </a:r>
            <a:r>
              <a:rPr sz="2000" b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40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2000" b="1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Verdana"/>
                <a:cs typeface="Verdana"/>
              </a:rPr>
              <a:t>ANNs</a:t>
            </a:r>
            <a:r>
              <a:rPr sz="2000" b="1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000" b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80" dirty="0">
                <a:solidFill>
                  <a:srgbClr val="FFFFFF"/>
                </a:solidFill>
                <a:latin typeface="Verdana"/>
                <a:cs typeface="Verdana"/>
              </a:rPr>
              <a:t>emulação</a:t>
            </a:r>
            <a:r>
              <a:rPr sz="2000" b="1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60" dirty="0">
                <a:solidFill>
                  <a:srgbClr val="FFFFFF"/>
                </a:solidFill>
                <a:latin typeface="Verdana"/>
                <a:cs typeface="Verdana"/>
              </a:rPr>
              <a:t>de  </a:t>
            </a:r>
            <a:r>
              <a:rPr sz="2000" b="1" spc="-95" dirty="0">
                <a:solidFill>
                  <a:srgbClr val="FFFFFF"/>
                </a:solidFill>
                <a:latin typeface="Verdana"/>
                <a:cs typeface="Verdana"/>
              </a:rPr>
              <a:t>instrumentos </a:t>
            </a:r>
            <a:r>
              <a:rPr sz="2000" b="1" spc="-40" dirty="0">
                <a:solidFill>
                  <a:srgbClr val="FFFFFF"/>
                </a:solidFill>
                <a:latin typeface="Verdana"/>
                <a:cs typeface="Verdana"/>
              </a:rPr>
              <a:t>em </a:t>
            </a:r>
            <a:r>
              <a:rPr sz="2000" b="1" spc="-60" dirty="0">
                <a:solidFill>
                  <a:srgbClr val="FFFFFF"/>
                </a:solidFill>
                <a:latin typeface="Verdana"/>
                <a:cs typeface="Verdana"/>
              </a:rPr>
              <a:t>tempo</a:t>
            </a:r>
            <a:r>
              <a:rPr sz="2000" b="1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145" dirty="0">
                <a:solidFill>
                  <a:srgbClr val="FFFFFF"/>
                </a:solidFill>
                <a:latin typeface="Verdana"/>
                <a:cs typeface="Verdana"/>
              </a:rPr>
              <a:t>real</a:t>
            </a:r>
            <a:endParaRPr sz="2000">
              <a:latin typeface="Verdana"/>
              <a:cs typeface="Verdana"/>
            </a:endParaRPr>
          </a:p>
          <a:p>
            <a:pPr marL="525780" marR="1412875">
              <a:lnSpc>
                <a:spcPct val="186000"/>
              </a:lnSpc>
              <a:spcBef>
                <a:spcPts val="40"/>
              </a:spcBef>
            </a:pPr>
            <a:r>
              <a:rPr sz="2000" spc="35" dirty="0">
                <a:solidFill>
                  <a:srgbClr val="FFFFFF"/>
                </a:solidFill>
                <a:latin typeface="Verdana"/>
                <a:cs typeface="Verdana"/>
              </a:rPr>
              <a:t>Mapear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3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estado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arte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aplicação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ANNs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áreas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correlatas  </a:t>
            </a:r>
            <a:r>
              <a:rPr sz="2000" spc="35" dirty="0">
                <a:solidFill>
                  <a:srgbClr val="FFFFFF"/>
                </a:solidFill>
                <a:latin typeface="Verdana"/>
                <a:cs typeface="Verdana"/>
              </a:rPr>
              <a:t>Mapear o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estado 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da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arte 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da </a:t>
            </a:r>
            <a:r>
              <a:rPr sz="2000" spc="75" dirty="0">
                <a:solidFill>
                  <a:srgbClr val="FFFFFF"/>
                </a:solidFill>
                <a:latin typeface="Verdana"/>
                <a:cs typeface="Verdana"/>
              </a:rPr>
              <a:t>modelagem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acústica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“tradicional” 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Investigar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3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potencial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FFFFFF"/>
                </a:solidFill>
                <a:latin typeface="Verdana"/>
                <a:cs typeface="Verdana"/>
              </a:rPr>
              <a:t>inclusão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teoria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acústica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35" dirty="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35" dirty="0">
                <a:solidFill>
                  <a:srgbClr val="FFFFFF"/>
                </a:solidFill>
                <a:latin typeface="Verdana"/>
                <a:cs typeface="Verdana"/>
              </a:rPr>
              <a:t>eﬁciência</a:t>
            </a:r>
            <a:endParaRPr sz="2000">
              <a:latin typeface="Verdana"/>
              <a:cs typeface="Verdana"/>
            </a:endParaRPr>
          </a:p>
          <a:p>
            <a:pPr marL="269240">
              <a:lnSpc>
                <a:spcPct val="100000"/>
              </a:lnSpc>
              <a:spcBef>
                <a:spcPts val="2100"/>
              </a:spcBef>
            </a:pPr>
            <a:r>
              <a:rPr sz="2000" b="1" spc="-120" dirty="0">
                <a:solidFill>
                  <a:srgbClr val="FFFFFF"/>
                </a:solidFill>
                <a:latin typeface="Verdana"/>
                <a:cs typeface="Verdana"/>
              </a:rPr>
              <a:t>Motivação:</a:t>
            </a:r>
            <a:endParaRPr sz="2000">
              <a:latin typeface="Verdana"/>
              <a:cs typeface="Verdana"/>
            </a:endParaRPr>
          </a:p>
          <a:p>
            <a:pPr marL="525780" marR="4168775">
              <a:lnSpc>
                <a:spcPct val="187600"/>
              </a:lnSpc>
            </a:pP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ANNs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aplicadas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sucesso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várias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áreas  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Estado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arte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áreas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aﬁns</a:t>
            </a:r>
            <a:endParaRPr sz="2000">
              <a:latin typeface="Verdana"/>
              <a:cs typeface="Verdana"/>
            </a:endParaRPr>
          </a:p>
          <a:p>
            <a:pPr marL="12700" marR="5080" indent="513080">
              <a:lnSpc>
                <a:spcPct val="103200"/>
              </a:lnSpc>
              <a:spcBef>
                <a:spcPts val="2025"/>
              </a:spcBef>
            </a:pP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Poucos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trabalhos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relacionados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síntese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sonora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via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ANNs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(nenhum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Verdana"/>
                <a:cs typeface="Verdana"/>
              </a:rPr>
              <a:t>tempo 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real)</a:t>
            </a:r>
            <a:endParaRPr sz="2000">
              <a:latin typeface="Verdana"/>
              <a:cs typeface="Verdana"/>
            </a:endParaRPr>
          </a:p>
          <a:p>
            <a:pPr marL="525780">
              <a:lnSpc>
                <a:spcPct val="100000"/>
              </a:lnSpc>
              <a:spcBef>
                <a:spcPts val="2105"/>
              </a:spcBef>
            </a:pP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Indústria</a:t>
            </a:r>
            <a:r>
              <a:rPr sz="20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Verdana"/>
                <a:cs typeface="Verdana"/>
              </a:rPr>
              <a:t>DMI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“estagnada”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hermética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45" y="339890"/>
            <a:ext cx="8989695" cy="5927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100"/>
              </a:spcBef>
            </a:pPr>
            <a:r>
              <a:rPr sz="3450" b="1" spc="-225" dirty="0">
                <a:solidFill>
                  <a:srgbClr val="FFFFFF"/>
                </a:solidFill>
                <a:latin typeface="Verdana"/>
                <a:cs typeface="Verdana"/>
              </a:rPr>
              <a:t>Introdução</a:t>
            </a:r>
            <a:endParaRPr sz="3450">
              <a:latin typeface="Verdana"/>
              <a:cs typeface="Verdana"/>
            </a:endParaRPr>
          </a:p>
          <a:p>
            <a:pPr marL="450850">
              <a:lnSpc>
                <a:spcPct val="100000"/>
              </a:lnSpc>
              <a:spcBef>
                <a:spcPts val="2990"/>
              </a:spcBef>
            </a:pPr>
            <a:r>
              <a:rPr sz="3450" b="1" spc="-215" dirty="0">
                <a:solidFill>
                  <a:srgbClr val="FFFFFF"/>
                </a:solidFill>
                <a:latin typeface="Verdana"/>
                <a:cs typeface="Verdana"/>
              </a:rPr>
              <a:t>Escopo:</a:t>
            </a:r>
            <a:endParaRPr sz="3450">
              <a:latin typeface="Verdana"/>
              <a:cs typeface="Verdana"/>
            </a:endParaRPr>
          </a:p>
          <a:p>
            <a:pPr marL="889000" marR="59055">
              <a:lnSpc>
                <a:spcPct val="186700"/>
              </a:lnSpc>
            </a:pPr>
            <a:r>
              <a:rPr sz="3450" spc="70" dirty="0">
                <a:solidFill>
                  <a:srgbClr val="FFFFFF"/>
                </a:solidFill>
                <a:latin typeface="Verdana"/>
                <a:cs typeface="Verdana"/>
              </a:rPr>
              <a:t>Emulação</a:t>
            </a:r>
            <a:r>
              <a:rPr sz="345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50" spc="9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45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50" spc="20" dirty="0">
                <a:solidFill>
                  <a:srgbClr val="FFFFFF"/>
                </a:solidFill>
                <a:latin typeface="Verdana"/>
                <a:cs typeface="Verdana"/>
              </a:rPr>
              <a:t>instrumentos</a:t>
            </a:r>
            <a:r>
              <a:rPr sz="345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50" spc="-5" dirty="0">
                <a:solidFill>
                  <a:srgbClr val="FFFFFF"/>
                </a:solidFill>
                <a:latin typeface="Verdana"/>
                <a:cs typeface="Verdana"/>
              </a:rPr>
              <a:t>acústicos  </a:t>
            </a:r>
            <a:r>
              <a:rPr sz="3450" spc="-15" dirty="0">
                <a:solidFill>
                  <a:srgbClr val="FFFFFF"/>
                </a:solidFill>
                <a:latin typeface="Verdana"/>
                <a:cs typeface="Verdana"/>
              </a:rPr>
              <a:t>Excitação</a:t>
            </a:r>
            <a:r>
              <a:rPr sz="345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50" dirty="0">
                <a:solidFill>
                  <a:srgbClr val="FFFFFF"/>
                </a:solidFill>
                <a:latin typeface="Verdana"/>
                <a:cs typeface="Verdana"/>
              </a:rPr>
              <a:t>impulsiva</a:t>
            </a:r>
            <a:endParaRPr sz="3450">
              <a:latin typeface="Verdana"/>
              <a:cs typeface="Verdana"/>
            </a:endParaRPr>
          </a:p>
          <a:p>
            <a:pPr marL="889000">
              <a:lnSpc>
                <a:spcPct val="100000"/>
              </a:lnSpc>
              <a:spcBef>
                <a:spcPts val="3590"/>
              </a:spcBef>
            </a:pPr>
            <a:r>
              <a:rPr sz="3450" spc="35" dirty="0">
                <a:solidFill>
                  <a:srgbClr val="FFFFFF"/>
                </a:solidFill>
                <a:latin typeface="Verdana"/>
                <a:cs typeface="Verdana"/>
              </a:rPr>
              <a:t>Tempo</a:t>
            </a:r>
            <a:r>
              <a:rPr sz="345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50" spc="-80" dirty="0">
                <a:solidFill>
                  <a:srgbClr val="FFFFFF"/>
                </a:solidFill>
                <a:latin typeface="Verdana"/>
                <a:cs typeface="Verdana"/>
              </a:rPr>
              <a:t>real</a:t>
            </a:r>
            <a:endParaRPr sz="3450">
              <a:latin typeface="Verdana"/>
              <a:cs typeface="Verdana"/>
            </a:endParaRPr>
          </a:p>
          <a:p>
            <a:pPr marL="12700" marR="5080" indent="876300">
              <a:lnSpc>
                <a:spcPct val="103299"/>
              </a:lnSpc>
              <a:spcBef>
                <a:spcPts val="3454"/>
              </a:spcBef>
            </a:pPr>
            <a:r>
              <a:rPr sz="3450" spc="-10" dirty="0">
                <a:solidFill>
                  <a:srgbClr val="FFFFFF"/>
                </a:solidFill>
                <a:latin typeface="Verdana"/>
                <a:cs typeface="Verdana"/>
              </a:rPr>
              <a:t>Arquiteturas</a:t>
            </a:r>
            <a:r>
              <a:rPr sz="345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Verdana"/>
                <a:cs typeface="Verdana"/>
              </a:rPr>
              <a:t>Neurais</a:t>
            </a:r>
            <a:r>
              <a:rPr sz="345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50" spc="10" dirty="0">
                <a:solidFill>
                  <a:srgbClr val="FFFFFF"/>
                </a:solidFill>
                <a:latin typeface="Verdana"/>
                <a:cs typeface="Verdana"/>
              </a:rPr>
              <a:t>consolidadas</a:t>
            </a:r>
            <a:r>
              <a:rPr sz="345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450" spc="40" dirty="0">
                <a:solidFill>
                  <a:srgbClr val="FFFFFF"/>
                </a:solidFill>
                <a:latin typeface="Verdana"/>
                <a:cs typeface="Verdana"/>
              </a:rPr>
              <a:t>na  </a:t>
            </a:r>
            <a:r>
              <a:rPr sz="3450" spc="-45" dirty="0">
                <a:solidFill>
                  <a:srgbClr val="FFFFFF"/>
                </a:solidFill>
                <a:latin typeface="Verdana"/>
                <a:cs typeface="Verdana"/>
              </a:rPr>
              <a:t>literatura</a:t>
            </a:r>
            <a:endParaRPr sz="3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243" y="164185"/>
            <a:ext cx="8442960" cy="40849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0" dirty="0">
                <a:solidFill>
                  <a:srgbClr val="FFFFFF"/>
                </a:solidFill>
                <a:latin typeface="Verdana"/>
                <a:cs typeface="Verdana"/>
              </a:rPr>
              <a:t>Revisão</a:t>
            </a:r>
            <a:r>
              <a:rPr sz="1650" b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="1" spc="-60" dirty="0">
                <a:solidFill>
                  <a:srgbClr val="FFFFFF"/>
                </a:solidFill>
                <a:latin typeface="Verdana"/>
                <a:cs typeface="Verdana"/>
              </a:rPr>
              <a:t>Bibliográﬁca</a:t>
            </a:r>
            <a:endParaRPr sz="16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650" b="1" spc="-105" dirty="0">
                <a:solidFill>
                  <a:srgbClr val="FFFFFF"/>
                </a:solidFill>
                <a:latin typeface="Verdana"/>
                <a:cs typeface="Verdana"/>
              </a:rPr>
              <a:t>ANNs:</a:t>
            </a:r>
            <a:endParaRPr sz="1650" dirty="0">
              <a:latin typeface="Verdana"/>
              <a:cs typeface="Verdana"/>
            </a:endParaRPr>
          </a:p>
          <a:p>
            <a:pPr marL="226060" marR="2829560">
              <a:lnSpc>
                <a:spcPct val="189500"/>
              </a:lnSpc>
              <a:spcBef>
                <a:spcPts val="75"/>
              </a:spcBef>
            </a:pPr>
            <a:r>
              <a:rPr sz="1650" spc="45" dirty="0">
                <a:solidFill>
                  <a:srgbClr val="FFFFFF"/>
                </a:solidFill>
                <a:latin typeface="Verdana"/>
                <a:cs typeface="Verdana"/>
              </a:rPr>
              <a:t>Alguns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10" dirty="0">
                <a:solidFill>
                  <a:srgbClr val="FFFFFF"/>
                </a:solidFill>
                <a:latin typeface="Verdana"/>
                <a:cs typeface="Verdana"/>
              </a:rPr>
              <a:t>trabalhos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10" dirty="0">
                <a:solidFill>
                  <a:srgbClr val="FFFFFF"/>
                </a:solidFill>
                <a:latin typeface="Verdana"/>
                <a:cs typeface="Verdana"/>
              </a:rPr>
              <a:t>experimentais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40" dirty="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45" dirty="0">
                <a:solidFill>
                  <a:srgbClr val="FFFFFF"/>
                </a:solidFill>
                <a:latin typeface="Verdana"/>
                <a:cs typeface="Verdana"/>
              </a:rPr>
              <a:t>década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6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20" dirty="0">
                <a:solidFill>
                  <a:srgbClr val="FFFFFF"/>
                </a:solidFill>
                <a:latin typeface="Verdana"/>
                <a:cs typeface="Verdana"/>
              </a:rPr>
              <a:t>1990  </a:t>
            </a:r>
            <a:r>
              <a:rPr sz="1650" spc="15" dirty="0">
                <a:solidFill>
                  <a:srgbClr val="FFFFFF"/>
                </a:solidFill>
                <a:latin typeface="Verdana"/>
                <a:cs typeface="Verdana"/>
              </a:rPr>
              <a:t>Wavenet</a:t>
            </a:r>
            <a:r>
              <a:rPr sz="16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2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16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45" dirty="0">
                <a:solidFill>
                  <a:srgbClr val="FFFFFF"/>
                </a:solidFill>
                <a:latin typeface="Verdana"/>
                <a:cs typeface="Verdana"/>
              </a:rPr>
              <a:t>bons</a:t>
            </a:r>
            <a:r>
              <a:rPr sz="16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5" dirty="0">
                <a:solidFill>
                  <a:srgbClr val="FFFFFF"/>
                </a:solidFill>
                <a:latin typeface="Verdana"/>
                <a:cs typeface="Verdana"/>
              </a:rPr>
              <a:t>resultados</a:t>
            </a:r>
            <a:r>
              <a:rPr sz="16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5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16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40" dirty="0">
                <a:solidFill>
                  <a:srgbClr val="FFFFFF"/>
                </a:solidFill>
                <a:latin typeface="Verdana"/>
                <a:cs typeface="Verdana"/>
              </a:rPr>
              <a:t>voz</a:t>
            </a:r>
            <a:r>
              <a:rPr sz="16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FFFFFF"/>
                </a:solidFill>
                <a:latin typeface="Verdana"/>
                <a:cs typeface="Verdana"/>
              </a:rPr>
              <a:t>(Magenta)</a:t>
            </a:r>
            <a:endParaRPr sz="1650" dirty="0">
              <a:latin typeface="Verdana"/>
              <a:cs typeface="Verdana"/>
            </a:endParaRPr>
          </a:p>
          <a:p>
            <a:pPr marL="12700" marR="5080" indent="213360">
              <a:lnSpc>
                <a:spcPct val="189500"/>
              </a:lnSpc>
              <a:spcBef>
                <a:spcPts val="75"/>
              </a:spcBef>
            </a:pPr>
            <a:r>
              <a:rPr sz="1650" spc="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20" dirty="0">
                <a:solidFill>
                  <a:srgbClr val="FFFFFF"/>
                </a:solidFill>
                <a:latin typeface="Verdana"/>
                <a:cs typeface="Verdana"/>
              </a:rPr>
              <a:t>Maioria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10" dirty="0">
                <a:solidFill>
                  <a:srgbClr val="FFFFFF"/>
                </a:solidFill>
                <a:latin typeface="Verdana"/>
                <a:cs typeface="Verdana"/>
              </a:rPr>
              <a:t>das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20" dirty="0">
                <a:solidFill>
                  <a:srgbClr val="FFFFFF"/>
                </a:solidFill>
                <a:latin typeface="Verdana"/>
                <a:cs typeface="Verdana"/>
              </a:rPr>
              <a:t>plicações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6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65" dirty="0">
                <a:solidFill>
                  <a:srgbClr val="FFFFFF"/>
                </a:solidFill>
                <a:latin typeface="Verdana"/>
                <a:cs typeface="Verdana"/>
              </a:rPr>
              <a:t>ANNs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30" dirty="0">
                <a:solidFill>
                  <a:srgbClr val="FFFFFF"/>
                </a:solidFill>
                <a:latin typeface="Verdana"/>
                <a:cs typeface="Verdana"/>
              </a:rPr>
              <a:t>ocorrem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100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130" dirty="0">
                <a:solidFill>
                  <a:srgbClr val="FFFFFF"/>
                </a:solidFill>
                <a:latin typeface="Verdana"/>
                <a:cs typeface="Verdana"/>
              </a:rPr>
              <a:t>um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Verdana"/>
                <a:cs typeface="Verdana"/>
              </a:rPr>
              <a:t>nível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25" dirty="0">
                <a:solidFill>
                  <a:srgbClr val="FFFFFF"/>
                </a:solidFill>
                <a:latin typeface="Verdana"/>
                <a:cs typeface="Verdana"/>
              </a:rPr>
              <a:t>mais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5" dirty="0">
                <a:solidFill>
                  <a:srgbClr val="FFFFFF"/>
                </a:solidFill>
                <a:latin typeface="Verdana"/>
                <a:cs typeface="Verdana"/>
              </a:rPr>
              <a:t>alto</a:t>
            </a:r>
            <a:r>
              <a:rPr sz="165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6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10" dirty="0">
                <a:solidFill>
                  <a:srgbClr val="FFFFFF"/>
                </a:solidFill>
                <a:latin typeface="Verdana"/>
                <a:cs typeface="Verdana"/>
              </a:rPr>
              <a:t>abstração  </a:t>
            </a:r>
            <a:r>
              <a:rPr sz="1650" b="1" spc="-35" dirty="0">
                <a:solidFill>
                  <a:srgbClr val="FFFFFF"/>
                </a:solidFill>
                <a:latin typeface="Verdana"/>
                <a:cs typeface="Verdana"/>
              </a:rPr>
              <a:t>Modelagem </a:t>
            </a:r>
            <a:r>
              <a:rPr sz="1650" b="1" spc="-65" dirty="0">
                <a:solidFill>
                  <a:srgbClr val="FFFFFF"/>
                </a:solidFill>
                <a:latin typeface="Verdana"/>
                <a:cs typeface="Verdana"/>
              </a:rPr>
              <a:t>Acústica</a:t>
            </a:r>
            <a:r>
              <a:rPr sz="1650" b="1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="1" spc="-100" dirty="0">
                <a:solidFill>
                  <a:srgbClr val="FFFFFF"/>
                </a:solidFill>
                <a:latin typeface="Verdana"/>
                <a:cs typeface="Verdana"/>
              </a:rPr>
              <a:t>Tradicional:</a:t>
            </a:r>
            <a:endParaRPr sz="1650" dirty="0">
              <a:latin typeface="Verdana"/>
              <a:cs typeface="Verdana"/>
            </a:endParaRPr>
          </a:p>
          <a:p>
            <a:pPr marL="226060" marR="3182620">
              <a:lnSpc>
                <a:spcPts val="3829"/>
              </a:lnSpc>
              <a:spcBef>
                <a:spcPts val="359"/>
              </a:spcBef>
            </a:pPr>
            <a:r>
              <a:rPr sz="1650" spc="60" dirty="0">
                <a:solidFill>
                  <a:srgbClr val="FFFFFF"/>
                </a:solidFill>
                <a:latin typeface="Verdana"/>
                <a:cs typeface="Verdana"/>
              </a:rPr>
              <a:t>Domínio</a:t>
            </a:r>
            <a:r>
              <a:rPr sz="16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45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16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40" dirty="0">
                <a:solidFill>
                  <a:srgbClr val="FFFFFF"/>
                </a:solidFill>
                <a:latin typeface="Verdana"/>
                <a:cs typeface="Verdana"/>
              </a:rPr>
              <a:t>Frequência</a:t>
            </a:r>
            <a:r>
              <a:rPr sz="16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45" dirty="0">
                <a:solidFill>
                  <a:srgbClr val="FFFFFF"/>
                </a:solidFill>
                <a:latin typeface="Verdana"/>
                <a:cs typeface="Verdana"/>
              </a:rPr>
              <a:t>(Modelagem</a:t>
            </a:r>
            <a:r>
              <a:rPr sz="16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5" dirty="0">
                <a:solidFill>
                  <a:srgbClr val="FFFFFF"/>
                </a:solidFill>
                <a:latin typeface="Verdana"/>
                <a:cs typeface="Verdana"/>
              </a:rPr>
              <a:t>Espectral)  </a:t>
            </a:r>
            <a:r>
              <a:rPr sz="1650" spc="60" dirty="0">
                <a:solidFill>
                  <a:srgbClr val="FFFFFF"/>
                </a:solidFill>
                <a:latin typeface="Verdana"/>
                <a:cs typeface="Verdana"/>
              </a:rPr>
              <a:t>Domínio</a:t>
            </a:r>
            <a:r>
              <a:rPr sz="16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75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16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35" dirty="0">
                <a:solidFill>
                  <a:srgbClr val="FFFFFF"/>
                </a:solidFill>
                <a:latin typeface="Verdana"/>
                <a:cs typeface="Verdana"/>
              </a:rPr>
              <a:t>Tempo</a:t>
            </a:r>
            <a:r>
              <a:rPr sz="16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45" dirty="0">
                <a:solidFill>
                  <a:srgbClr val="FFFFFF"/>
                </a:solidFill>
                <a:latin typeface="Verdana"/>
                <a:cs typeface="Verdana"/>
              </a:rPr>
              <a:t>(Modelagem</a:t>
            </a:r>
            <a:r>
              <a:rPr sz="16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FFFFFF"/>
                </a:solidFill>
                <a:latin typeface="Verdana"/>
                <a:cs typeface="Verdana"/>
              </a:rPr>
              <a:t>Física)</a:t>
            </a:r>
            <a:endParaRPr sz="16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650" b="1" spc="-75" dirty="0">
                <a:solidFill>
                  <a:srgbClr val="FFFFFF"/>
                </a:solidFill>
                <a:latin typeface="Verdana"/>
                <a:cs typeface="Verdana"/>
              </a:rPr>
              <a:t>Principais </a:t>
            </a:r>
            <a:r>
              <a:rPr sz="1650" b="1" spc="-55" dirty="0">
                <a:solidFill>
                  <a:srgbClr val="FFFFFF"/>
                </a:solidFill>
                <a:latin typeface="Verdana"/>
                <a:cs typeface="Verdana"/>
              </a:rPr>
              <a:t>métodos </a:t>
            </a:r>
            <a:r>
              <a:rPr sz="1650" b="1" spc="-4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650" b="1" spc="-35" dirty="0">
                <a:solidFill>
                  <a:srgbClr val="FFFFFF"/>
                </a:solidFill>
                <a:latin typeface="Verdana"/>
                <a:cs typeface="Verdana"/>
              </a:rPr>
              <a:t>Modelagem</a:t>
            </a:r>
            <a:r>
              <a:rPr sz="1650" b="1" spc="-2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="1" spc="-105" dirty="0">
                <a:solidFill>
                  <a:srgbClr val="FFFFFF"/>
                </a:solidFill>
                <a:latin typeface="Verdana"/>
                <a:cs typeface="Verdana"/>
              </a:rPr>
              <a:t>Física:</a:t>
            </a:r>
            <a:endParaRPr sz="1650" dirty="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64036" y="4469878"/>
            <a:ext cx="4774862" cy="15535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43276" y="6216157"/>
            <a:ext cx="403479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30" dirty="0">
                <a:solidFill>
                  <a:srgbClr val="FFFFFF"/>
                </a:solidFill>
                <a:latin typeface="Verdana"/>
                <a:cs typeface="Verdana"/>
              </a:rPr>
              <a:t>Digital </a:t>
            </a:r>
            <a:r>
              <a:rPr sz="1650" spc="35" dirty="0">
                <a:solidFill>
                  <a:srgbClr val="FFFFFF"/>
                </a:solidFill>
                <a:latin typeface="Verdana"/>
                <a:cs typeface="Verdana"/>
              </a:rPr>
              <a:t>Waveguide </a:t>
            </a:r>
            <a:r>
              <a:rPr sz="1650" spc="-260" dirty="0">
                <a:solidFill>
                  <a:srgbClr val="FFFFFF"/>
                </a:solidFill>
                <a:latin typeface="Verdana"/>
                <a:cs typeface="Verdana"/>
              </a:rPr>
              <a:t>| </a:t>
            </a:r>
            <a:r>
              <a:rPr sz="1650" spc="10" dirty="0">
                <a:solidFill>
                  <a:srgbClr val="FFFFFF"/>
                </a:solidFill>
                <a:latin typeface="Verdana"/>
                <a:cs typeface="Verdana"/>
              </a:rPr>
              <a:t>Diferenças</a:t>
            </a:r>
            <a:r>
              <a:rPr sz="1650" spc="-4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15" dirty="0">
                <a:solidFill>
                  <a:srgbClr val="FFFFFF"/>
                </a:solidFill>
                <a:latin typeface="Verdana"/>
                <a:cs typeface="Verdana"/>
              </a:rPr>
              <a:t>Finitas</a:t>
            </a:r>
            <a:endParaRPr sz="16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991" y="296988"/>
            <a:ext cx="9971405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00" b="1" spc="-175" dirty="0">
                <a:solidFill>
                  <a:srgbClr val="FFFFFF"/>
                </a:solidFill>
                <a:latin typeface="Verdana"/>
                <a:cs typeface="Verdana"/>
              </a:rPr>
              <a:t>Referencial </a:t>
            </a:r>
            <a:r>
              <a:rPr sz="3100" b="1" spc="-210" dirty="0">
                <a:solidFill>
                  <a:srgbClr val="FFFFFF"/>
                </a:solidFill>
                <a:latin typeface="Verdana"/>
                <a:cs typeface="Verdana"/>
              </a:rPr>
              <a:t>Teórico </a:t>
            </a:r>
            <a:r>
              <a:rPr sz="3100" b="1" spc="-295" dirty="0">
                <a:solidFill>
                  <a:srgbClr val="FFFFFF"/>
                </a:solidFill>
                <a:latin typeface="Verdana"/>
                <a:cs typeface="Verdana"/>
              </a:rPr>
              <a:t>- </a:t>
            </a:r>
            <a:r>
              <a:rPr sz="3100" b="1" spc="-160" dirty="0">
                <a:solidFill>
                  <a:srgbClr val="FFFFFF"/>
                </a:solidFill>
                <a:latin typeface="Verdana"/>
                <a:cs typeface="Verdana"/>
              </a:rPr>
              <a:t>Redes </a:t>
            </a:r>
            <a:r>
              <a:rPr sz="3100" b="1" spc="-190" dirty="0">
                <a:solidFill>
                  <a:srgbClr val="FFFFFF"/>
                </a:solidFill>
                <a:latin typeface="Verdana"/>
                <a:cs typeface="Verdana"/>
              </a:rPr>
              <a:t>Neurais </a:t>
            </a:r>
            <a:r>
              <a:rPr sz="3100" b="1" spc="-29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3100" b="1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100" b="1" spc="-175" dirty="0">
                <a:solidFill>
                  <a:srgbClr val="FFFFFF"/>
                </a:solidFill>
                <a:latin typeface="Verdana"/>
                <a:cs typeface="Verdana"/>
              </a:rPr>
              <a:t>Arquiteturas</a:t>
            </a:r>
            <a:endParaRPr sz="31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30601" y="1200861"/>
            <a:ext cx="5022666" cy="47653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07217" y="6329898"/>
            <a:ext cx="2470150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00" spc="7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100" spc="-14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100" spc="17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3100" spc="40" dirty="0">
                <a:solidFill>
                  <a:srgbClr val="FFFFFF"/>
                </a:solidFill>
                <a:latin typeface="Verdana"/>
                <a:cs typeface="Verdana"/>
              </a:rPr>
              <a:t>ui</a:t>
            </a:r>
            <a:r>
              <a:rPr sz="3100" spc="-4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3100" spc="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100" spc="15" dirty="0">
                <a:solidFill>
                  <a:srgbClr val="FFFFFF"/>
                </a:solidFill>
                <a:latin typeface="Verdana"/>
                <a:cs typeface="Verdana"/>
              </a:rPr>
              <a:t>tu</a:t>
            </a:r>
            <a:r>
              <a:rPr sz="3100" spc="-2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3100" spc="-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100" spc="-13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3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9382" y="365173"/>
            <a:ext cx="8028305" cy="1552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00" b="1" spc="-210" dirty="0">
                <a:solidFill>
                  <a:srgbClr val="FFFFFF"/>
                </a:solidFill>
                <a:latin typeface="Verdana"/>
                <a:cs typeface="Verdana"/>
              </a:rPr>
              <a:t>Referencial</a:t>
            </a:r>
            <a:r>
              <a:rPr sz="3700" b="1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b="1" spc="-260" dirty="0">
                <a:solidFill>
                  <a:srgbClr val="FFFFFF"/>
                </a:solidFill>
                <a:latin typeface="Verdana"/>
                <a:cs typeface="Verdana"/>
              </a:rPr>
              <a:t>Teórico</a:t>
            </a:r>
            <a:endParaRPr sz="3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135"/>
              </a:spcBef>
            </a:pPr>
            <a:r>
              <a:rPr sz="3700" b="1" spc="-240" dirty="0">
                <a:solidFill>
                  <a:srgbClr val="FFFFFF"/>
                </a:solidFill>
                <a:latin typeface="Verdana"/>
                <a:cs typeface="Verdana"/>
              </a:rPr>
              <a:t>Transformada </a:t>
            </a:r>
            <a:r>
              <a:rPr sz="3700" b="1" spc="-204" dirty="0">
                <a:solidFill>
                  <a:srgbClr val="FFFFFF"/>
                </a:solidFill>
                <a:latin typeface="Verdana"/>
                <a:cs typeface="Verdana"/>
              </a:rPr>
              <a:t>Discreta </a:t>
            </a:r>
            <a:r>
              <a:rPr sz="3700" b="1" spc="-13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700" b="1" spc="-3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b="1" spc="-220" dirty="0">
                <a:solidFill>
                  <a:srgbClr val="FFFFFF"/>
                </a:solidFill>
                <a:latin typeface="Verdana"/>
                <a:cs typeface="Verdana"/>
              </a:rPr>
              <a:t>Fourier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87498" y="2392197"/>
            <a:ext cx="5727934" cy="33167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09958" y="6159817"/>
            <a:ext cx="7814945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00" spc="-25" dirty="0">
                <a:solidFill>
                  <a:srgbClr val="FFFFFF"/>
                </a:solidFill>
                <a:latin typeface="Verdana"/>
                <a:cs typeface="Verdana"/>
              </a:rPr>
              <a:t>Transformada</a:t>
            </a:r>
            <a:r>
              <a:rPr sz="3700" spc="-3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5" dirty="0">
                <a:solidFill>
                  <a:srgbClr val="FFFFFF"/>
                </a:solidFill>
                <a:latin typeface="Verdana"/>
                <a:cs typeface="Verdana"/>
              </a:rPr>
              <a:t>Discreta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1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Fourier</a:t>
            </a:r>
            <a:endParaRPr sz="3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5260" y="348313"/>
            <a:ext cx="8312150" cy="564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00" spc="-185" dirty="0"/>
              <a:t>Referencial </a:t>
            </a:r>
            <a:r>
              <a:rPr sz="3500" spc="-225" dirty="0"/>
              <a:t>Teórico </a:t>
            </a:r>
            <a:r>
              <a:rPr sz="3500" spc="-330" dirty="0"/>
              <a:t>- </a:t>
            </a:r>
            <a:r>
              <a:rPr sz="3500" spc="-105" dirty="0"/>
              <a:t>DFT </a:t>
            </a:r>
            <a:r>
              <a:rPr sz="3500" spc="-330" dirty="0"/>
              <a:t>-</a:t>
            </a:r>
            <a:r>
              <a:rPr sz="3500" spc="-425" dirty="0"/>
              <a:t> </a:t>
            </a:r>
            <a:r>
              <a:rPr sz="3500" spc="-315" dirty="0"/>
              <a:t>SIMETRIA</a:t>
            </a:r>
            <a:endParaRPr sz="3500"/>
          </a:p>
        </p:txBody>
      </p:sp>
      <p:sp>
        <p:nvSpPr>
          <p:cNvPr id="3" name="object 3"/>
          <p:cNvSpPr/>
          <p:nvPr/>
        </p:nvSpPr>
        <p:spPr>
          <a:xfrm>
            <a:off x="1534436" y="1372408"/>
            <a:ext cx="7624536" cy="46033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47114" y="6400285"/>
            <a:ext cx="7497445" cy="564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00" spc="-10" dirty="0">
                <a:solidFill>
                  <a:srgbClr val="FFFFFF"/>
                </a:solidFill>
                <a:latin typeface="Verdana"/>
                <a:cs typeface="Verdana"/>
              </a:rPr>
              <a:t>Simetria</a:t>
            </a:r>
            <a:r>
              <a:rPr sz="3500" spc="-3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-5" dirty="0">
                <a:solidFill>
                  <a:srgbClr val="FFFFFF"/>
                </a:solidFill>
                <a:latin typeface="Verdana"/>
                <a:cs typeface="Verdana"/>
              </a:rPr>
              <a:t>Transformada</a:t>
            </a:r>
            <a:r>
              <a:rPr sz="35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114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3500" spc="-3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spc="15" dirty="0">
                <a:solidFill>
                  <a:srgbClr val="FFFFFF"/>
                </a:solidFill>
                <a:latin typeface="Verdana"/>
                <a:cs typeface="Verdana"/>
              </a:rPr>
              <a:t>Fourier</a:t>
            </a:r>
            <a:endParaRPr sz="3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935" y="264675"/>
            <a:ext cx="10053955" cy="1198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b="1" spc="-160" dirty="0">
                <a:solidFill>
                  <a:srgbClr val="FFFFFF"/>
                </a:solidFill>
                <a:latin typeface="Verdana"/>
                <a:cs typeface="Verdana"/>
              </a:rPr>
              <a:t>Referencial </a:t>
            </a:r>
            <a:r>
              <a:rPr sz="2700" b="1" spc="-195" dirty="0">
                <a:solidFill>
                  <a:srgbClr val="FFFFFF"/>
                </a:solidFill>
                <a:latin typeface="Verdana"/>
                <a:cs typeface="Verdana"/>
              </a:rPr>
              <a:t>Teórico </a:t>
            </a:r>
            <a:r>
              <a:rPr sz="2700" b="1" spc="-26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700" b="1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b="1" spc="-105" dirty="0">
                <a:solidFill>
                  <a:srgbClr val="FFFFFF"/>
                </a:solidFill>
                <a:latin typeface="Verdana"/>
                <a:cs typeface="Verdana"/>
              </a:rPr>
              <a:t>DFT</a:t>
            </a:r>
            <a:endParaRPr sz="2700">
              <a:latin typeface="Verdana"/>
              <a:cs typeface="Verdana"/>
            </a:endParaRPr>
          </a:p>
          <a:p>
            <a:pPr marL="354330">
              <a:lnSpc>
                <a:spcPct val="100000"/>
              </a:lnSpc>
              <a:spcBef>
                <a:spcPts val="2760"/>
              </a:spcBef>
            </a:pPr>
            <a:r>
              <a:rPr sz="2700" spc="-20" dirty="0">
                <a:solidFill>
                  <a:srgbClr val="FFFFFF"/>
                </a:solidFill>
                <a:latin typeface="Verdana"/>
                <a:cs typeface="Verdana"/>
              </a:rPr>
              <a:t>Decaimento:</a:t>
            </a:r>
            <a:r>
              <a:rPr sz="27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65" dirty="0">
                <a:solidFill>
                  <a:srgbClr val="FFFFFF"/>
                </a:solidFill>
                <a:latin typeface="Verdana"/>
                <a:cs typeface="Verdana"/>
              </a:rPr>
              <a:t>domínio</a:t>
            </a:r>
            <a:r>
              <a:rPr sz="27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40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27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35" dirty="0">
                <a:solidFill>
                  <a:srgbClr val="FFFFFF"/>
                </a:solidFill>
                <a:latin typeface="Verdana"/>
                <a:cs typeface="Verdana"/>
              </a:rPr>
              <a:t>frequência</a:t>
            </a:r>
            <a:r>
              <a:rPr sz="27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0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7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65" dirty="0">
                <a:solidFill>
                  <a:srgbClr val="FFFFFF"/>
                </a:solidFill>
                <a:latin typeface="Verdana"/>
                <a:cs typeface="Verdana"/>
              </a:rPr>
              <a:t>domínio</a:t>
            </a:r>
            <a:r>
              <a:rPr sz="27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80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27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70" dirty="0">
                <a:solidFill>
                  <a:srgbClr val="FFFFFF"/>
                </a:solidFill>
                <a:latin typeface="Verdana"/>
                <a:cs typeface="Verdana"/>
              </a:rPr>
              <a:t>tempo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34436" y="1810829"/>
            <a:ext cx="7624536" cy="42030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23807" y="6326178"/>
            <a:ext cx="7130415" cy="436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-30" dirty="0">
                <a:solidFill>
                  <a:srgbClr val="FFFFFF"/>
                </a:solidFill>
                <a:latin typeface="Verdana"/>
                <a:cs typeface="Verdana"/>
              </a:rPr>
              <a:t>Decaimentos:</a:t>
            </a:r>
            <a:r>
              <a:rPr sz="27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20" dirty="0">
                <a:solidFill>
                  <a:srgbClr val="FFFFFF"/>
                </a:solidFill>
                <a:latin typeface="Verdana"/>
                <a:cs typeface="Verdana"/>
              </a:rPr>
              <a:t>ondas</a:t>
            </a:r>
            <a:r>
              <a:rPr sz="27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5" dirty="0">
                <a:solidFill>
                  <a:srgbClr val="FFFFFF"/>
                </a:solidFill>
                <a:latin typeface="Verdana"/>
                <a:cs typeface="Verdana"/>
              </a:rPr>
              <a:t>simples</a:t>
            </a:r>
            <a:r>
              <a:rPr sz="27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7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20" dirty="0">
                <a:solidFill>
                  <a:srgbClr val="FFFFFF"/>
                </a:solidFill>
                <a:latin typeface="Verdana"/>
                <a:cs typeface="Verdana"/>
              </a:rPr>
              <a:t>compostas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45" y="179893"/>
            <a:ext cx="9298940" cy="59912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135"/>
              </a:spcBef>
            </a:pPr>
            <a:r>
              <a:rPr sz="1900" b="1" spc="-65" dirty="0">
                <a:solidFill>
                  <a:srgbClr val="FFFFFF"/>
                </a:solidFill>
                <a:latin typeface="Verdana"/>
                <a:cs typeface="Verdana"/>
              </a:rPr>
              <a:t>Metodologia</a:t>
            </a:r>
            <a:endParaRPr sz="1900">
              <a:latin typeface="Verdana"/>
              <a:cs typeface="Verdana"/>
            </a:endParaRPr>
          </a:p>
          <a:p>
            <a:pPr marL="258445">
              <a:lnSpc>
                <a:spcPct val="100000"/>
              </a:lnSpc>
              <a:spcBef>
                <a:spcPts val="1695"/>
              </a:spcBef>
            </a:pPr>
            <a:r>
              <a:rPr sz="1900" b="1" spc="-65" dirty="0">
                <a:solidFill>
                  <a:srgbClr val="FFFFFF"/>
                </a:solidFill>
                <a:latin typeface="Verdana"/>
                <a:cs typeface="Verdana"/>
              </a:rPr>
              <a:t>Busca </a:t>
            </a:r>
            <a:r>
              <a:rPr sz="1900" b="1" spc="-4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900" b="1" spc="-105" dirty="0">
                <a:solidFill>
                  <a:srgbClr val="FFFFFF"/>
                </a:solidFill>
                <a:latin typeface="Verdana"/>
                <a:cs typeface="Verdana"/>
              </a:rPr>
              <a:t>amostras</a:t>
            </a:r>
            <a:r>
              <a:rPr sz="1900" b="1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b="1" spc="-140" dirty="0">
                <a:solidFill>
                  <a:srgbClr val="FFFFFF"/>
                </a:solidFill>
                <a:latin typeface="Verdana"/>
                <a:cs typeface="Verdana"/>
              </a:rPr>
              <a:t>sonoras:</a:t>
            </a:r>
            <a:endParaRPr sz="1900">
              <a:latin typeface="Verdana"/>
              <a:cs typeface="Verdana"/>
            </a:endParaRPr>
          </a:p>
          <a:p>
            <a:pPr marL="258445" marR="3482975" indent="245745">
              <a:lnSpc>
                <a:spcPct val="184300"/>
              </a:lnSpc>
              <a:spcBef>
                <a:spcPts val="80"/>
              </a:spcBef>
            </a:pP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Variedade,</a:t>
            </a:r>
            <a:r>
              <a:rPr sz="1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Qualidade,</a:t>
            </a:r>
            <a:r>
              <a:rPr sz="1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Licença,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30" dirty="0">
                <a:solidFill>
                  <a:srgbClr val="FFFFFF"/>
                </a:solidFill>
                <a:latin typeface="Verdana"/>
                <a:cs typeface="Verdana"/>
              </a:rPr>
              <a:t>Organização  </a:t>
            </a:r>
            <a:r>
              <a:rPr sz="1900" b="1" spc="-114" dirty="0">
                <a:solidFill>
                  <a:srgbClr val="FFFFFF"/>
                </a:solidFill>
                <a:latin typeface="Verdana"/>
                <a:cs typeface="Verdana"/>
              </a:rPr>
              <a:t>Investigação </a:t>
            </a:r>
            <a:r>
              <a:rPr sz="1900" b="1" spc="-85" dirty="0">
                <a:solidFill>
                  <a:srgbClr val="FFFFFF"/>
                </a:solidFill>
                <a:latin typeface="Verdana"/>
                <a:cs typeface="Verdana"/>
              </a:rPr>
              <a:t>dos </a:t>
            </a:r>
            <a:r>
              <a:rPr sz="1900" b="1" spc="-70" dirty="0">
                <a:solidFill>
                  <a:srgbClr val="FFFFFF"/>
                </a:solidFill>
                <a:latin typeface="Verdana"/>
                <a:cs typeface="Verdana"/>
              </a:rPr>
              <a:t>modelos</a:t>
            </a:r>
            <a:r>
              <a:rPr sz="1900" b="1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b="1" spc="-90" dirty="0">
                <a:solidFill>
                  <a:srgbClr val="FFFFFF"/>
                </a:solidFill>
                <a:latin typeface="Verdana"/>
                <a:cs typeface="Verdana"/>
              </a:rPr>
              <a:t>tradicionais</a:t>
            </a:r>
            <a:endParaRPr sz="1900">
              <a:latin typeface="Verdana"/>
              <a:cs typeface="Verdana"/>
            </a:endParaRPr>
          </a:p>
          <a:p>
            <a:pPr marL="258445" marR="5708650" indent="245745">
              <a:lnSpc>
                <a:spcPct val="187600"/>
              </a:lnSpc>
            </a:pPr>
            <a:r>
              <a:rPr sz="1900" spc="40" dirty="0">
                <a:solidFill>
                  <a:srgbClr val="FFFFFF"/>
                </a:solidFill>
                <a:latin typeface="Verdana"/>
                <a:cs typeface="Verdana"/>
              </a:rPr>
              <a:t>Implementação 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00" spc="-4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análise  </a:t>
            </a:r>
            <a:r>
              <a:rPr sz="1900" b="1" spc="-50" dirty="0">
                <a:solidFill>
                  <a:srgbClr val="FFFFFF"/>
                </a:solidFill>
                <a:latin typeface="Verdana"/>
                <a:cs typeface="Verdana"/>
              </a:rPr>
              <a:t>Domínio </a:t>
            </a:r>
            <a:r>
              <a:rPr sz="1900" b="1" spc="-45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1900" b="1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b="1" spc="-95" dirty="0">
                <a:solidFill>
                  <a:srgbClr val="FFFFFF"/>
                </a:solidFill>
                <a:latin typeface="Verdana"/>
                <a:cs typeface="Verdana"/>
              </a:rPr>
              <a:t>tempo:</a:t>
            </a:r>
            <a:endParaRPr sz="1900">
              <a:latin typeface="Verdana"/>
              <a:cs typeface="Verdana"/>
            </a:endParaRPr>
          </a:p>
          <a:p>
            <a:pPr marL="12700" marR="5080" indent="491490">
              <a:lnSpc>
                <a:spcPct val="102000"/>
              </a:lnSpc>
              <a:spcBef>
                <a:spcPts val="1950"/>
              </a:spcBef>
            </a:pPr>
            <a:r>
              <a:rPr sz="1900" spc="35" dirty="0">
                <a:solidFill>
                  <a:srgbClr val="FFFFFF"/>
                </a:solidFill>
                <a:latin typeface="Verdana"/>
                <a:cs typeface="Verdana"/>
              </a:rPr>
              <a:t>Redes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Densas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4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Grid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Search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(Arquitetura,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Verdana"/>
                <a:cs typeface="Verdana"/>
              </a:rPr>
              <a:t>Função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7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ativação,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Verdana"/>
                <a:cs typeface="Verdana"/>
              </a:rPr>
              <a:t>Função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70" dirty="0">
                <a:solidFill>
                  <a:srgbClr val="FFFFFF"/>
                </a:solidFill>
                <a:latin typeface="Verdana"/>
                <a:cs typeface="Verdana"/>
              </a:rPr>
              <a:t>de  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Otimização)</a:t>
            </a:r>
            <a:endParaRPr sz="1900">
              <a:latin typeface="Verdana"/>
              <a:cs typeface="Verdana"/>
            </a:endParaRPr>
          </a:p>
          <a:p>
            <a:pPr marL="258445" marR="3903345" indent="245745">
              <a:lnSpc>
                <a:spcPct val="184300"/>
              </a:lnSpc>
              <a:spcBef>
                <a:spcPts val="75"/>
              </a:spcBef>
            </a:pPr>
            <a:r>
              <a:rPr sz="1900" spc="35" dirty="0">
                <a:solidFill>
                  <a:srgbClr val="FFFFFF"/>
                </a:solidFill>
                <a:latin typeface="Verdana"/>
                <a:cs typeface="Verdana"/>
              </a:rPr>
              <a:t>Redes 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Recorrentes </a:t>
            </a:r>
            <a:r>
              <a:rPr sz="1900" spc="-455" dirty="0">
                <a:solidFill>
                  <a:srgbClr val="FFFFFF"/>
                </a:solidFill>
                <a:latin typeface="Verdana"/>
                <a:cs typeface="Verdana"/>
              </a:rPr>
              <a:t>+ 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Convolução</a:t>
            </a:r>
            <a:r>
              <a:rPr sz="1900" spc="-5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Verdana"/>
                <a:cs typeface="Verdana"/>
              </a:rPr>
              <a:t>alisada  </a:t>
            </a:r>
            <a:r>
              <a:rPr sz="1900" b="1" spc="-50" dirty="0">
                <a:solidFill>
                  <a:srgbClr val="FFFFFF"/>
                </a:solidFill>
                <a:latin typeface="Verdana"/>
                <a:cs typeface="Verdana"/>
              </a:rPr>
              <a:t>Domínio </a:t>
            </a:r>
            <a:r>
              <a:rPr sz="1900" b="1" spc="-60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1900" b="1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b="1" spc="-95" dirty="0">
                <a:solidFill>
                  <a:srgbClr val="FFFFFF"/>
                </a:solidFill>
                <a:latin typeface="Verdana"/>
                <a:cs typeface="Verdana"/>
              </a:rPr>
              <a:t>Frequência:</a:t>
            </a:r>
            <a:endParaRPr sz="1900">
              <a:latin typeface="Verdana"/>
              <a:cs typeface="Verdana"/>
            </a:endParaRPr>
          </a:p>
          <a:p>
            <a:pPr marL="504190">
              <a:lnSpc>
                <a:spcPct val="100000"/>
              </a:lnSpc>
              <a:spcBef>
                <a:spcPts val="2000"/>
              </a:spcBef>
            </a:pPr>
            <a:r>
              <a:rPr sz="1900" spc="50" dirty="0">
                <a:solidFill>
                  <a:srgbClr val="FFFFFF"/>
                </a:solidFill>
                <a:latin typeface="Verdana"/>
                <a:cs typeface="Verdana"/>
              </a:rPr>
              <a:t>Busca</a:t>
            </a:r>
            <a:r>
              <a:rPr sz="19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40" dirty="0">
                <a:solidFill>
                  <a:srgbClr val="FFFFFF"/>
                </a:solidFill>
                <a:latin typeface="Verdana"/>
                <a:cs typeface="Verdana"/>
              </a:rPr>
              <a:t>por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representações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35" dirty="0">
                <a:solidFill>
                  <a:srgbClr val="FFFFFF"/>
                </a:solidFill>
                <a:latin typeface="Verdana"/>
                <a:cs typeface="Verdana"/>
              </a:rPr>
              <a:t>simpliﬁcadas</a:t>
            </a:r>
            <a:endParaRPr sz="1900">
              <a:latin typeface="Verdana"/>
              <a:cs typeface="Verdana"/>
            </a:endParaRPr>
          </a:p>
          <a:p>
            <a:pPr marL="504190">
              <a:lnSpc>
                <a:spcPct val="100000"/>
              </a:lnSpc>
              <a:spcBef>
                <a:spcPts val="1995"/>
              </a:spcBef>
            </a:pPr>
            <a:r>
              <a:rPr sz="1900" spc="35" dirty="0">
                <a:solidFill>
                  <a:srgbClr val="FFFFFF"/>
                </a:solidFill>
                <a:latin typeface="Verdana"/>
                <a:cs typeface="Verdana"/>
              </a:rPr>
              <a:t>Aplicação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direta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7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redes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Densas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0" dirty="0">
                <a:solidFill>
                  <a:srgbClr val="FFFFFF"/>
                </a:solidFill>
                <a:latin typeface="Verdana"/>
                <a:cs typeface="Verdana"/>
              </a:rPr>
              <a:t>|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35" dirty="0">
                <a:solidFill>
                  <a:srgbClr val="FFFFFF"/>
                </a:solidFill>
                <a:latin typeface="Verdana"/>
                <a:cs typeface="Verdana"/>
              </a:rPr>
              <a:t>Aplicação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40" dirty="0">
                <a:solidFill>
                  <a:srgbClr val="FFFFFF"/>
                </a:solidFill>
                <a:latin typeface="Verdana"/>
                <a:cs typeface="Verdana"/>
              </a:rPr>
              <a:t>ﬁsicamente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35" dirty="0">
                <a:solidFill>
                  <a:srgbClr val="FFFFFF"/>
                </a:solidFill>
                <a:latin typeface="Verdana"/>
                <a:cs typeface="Verdana"/>
              </a:rPr>
              <a:t>informada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5578" y="179807"/>
            <a:ext cx="6874509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65" dirty="0"/>
              <a:t>Metodologia </a:t>
            </a:r>
            <a:r>
              <a:rPr sz="1900" spc="-175" dirty="0"/>
              <a:t>- </a:t>
            </a:r>
            <a:r>
              <a:rPr sz="1900" spc="-65" dirty="0"/>
              <a:t>Modelos </a:t>
            </a:r>
            <a:r>
              <a:rPr sz="1900" spc="-120" dirty="0"/>
              <a:t>Tradicionais: </a:t>
            </a:r>
            <a:r>
              <a:rPr sz="1900" spc="-70" dirty="0"/>
              <a:t>Digital</a:t>
            </a:r>
            <a:r>
              <a:rPr sz="1900" spc="-204" dirty="0"/>
              <a:t> </a:t>
            </a:r>
            <a:r>
              <a:rPr sz="1900" spc="-80" dirty="0"/>
              <a:t>Waveguide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4456285" y="4316116"/>
            <a:ext cx="2272665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30" dirty="0">
                <a:solidFill>
                  <a:srgbClr val="FFFFFF"/>
                </a:solidFill>
                <a:latin typeface="Verdana"/>
                <a:cs typeface="Verdana"/>
              </a:rPr>
              <a:t>Digital</a:t>
            </a:r>
            <a:r>
              <a:rPr sz="19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35" dirty="0">
                <a:solidFill>
                  <a:srgbClr val="FFFFFF"/>
                </a:solidFill>
                <a:latin typeface="Verdana"/>
                <a:cs typeface="Verdana"/>
              </a:rPr>
              <a:t>Waveguide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8728" y="5402611"/>
            <a:ext cx="416814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Amostra:</a:t>
            </a:r>
            <a:r>
              <a:rPr sz="1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60" dirty="0">
                <a:solidFill>
                  <a:srgbClr val="FFFFFF"/>
                </a:solidFill>
                <a:latin typeface="Verdana"/>
                <a:cs typeface="Verdana"/>
              </a:rPr>
              <a:t>440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Hz,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5" dirty="0">
                <a:solidFill>
                  <a:srgbClr val="FFFFFF"/>
                </a:solidFill>
                <a:latin typeface="Verdana"/>
                <a:cs typeface="Verdana"/>
              </a:rPr>
              <a:t>pluck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80" dirty="0">
                <a:solidFill>
                  <a:srgbClr val="FFFFFF"/>
                </a:solidFill>
                <a:latin typeface="Verdana"/>
                <a:cs typeface="Verdana"/>
              </a:rPr>
              <a:t>0.1,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45" dirty="0">
                <a:solidFill>
                  <a:srgbClr val="FFFFFF"/>
                </a:solidFill>
                <a:latin typeface="Verdana"/>
                <a:cs typeface="Verdana"/>
              </a:rPr>
              <a:t>pick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75" dirty="0">
                <a:solidFill>
                  <a:srgbClr val="FFFFFF"/>
                </a:solidFill>
                <a:latin typeface="Verdana"/>
                <a:cs typeface="Verdana"/>
              </a:rPr>
              <a:t>0.1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5565" y="6498638"/>
            <a:ext cx="4274185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Amostra: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60" dirty="0">
                <a:solidFill>
                  <a:srgbClr val="FFFFFF"/>
                </a:solidFill>
                <a:latin typeface="Verdana"/>
                <a:cs typeface="Verdana"/>
              </a:rPr>
              <a:t>440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Hz,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5" dirty="0">
                <a:solidFill>
                  <a:srgbClr val="FFFFFF"/>
                </a:solidFill>
                <a:latin typeface="Verdana"/>
                <a:cs typeface="Verdana"/>
              </a:rPr>
              <a:t>pluck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0.5,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45" dirty="0">
                <a:solidFill>
                  <a:srgbClr val="FFFFFF"/>
                </a:solidFill>
                <a:latin typeface="Verdana"/>
                <a:cs typeface="Verdana"/>
              </a:rPr>
              <a:t>pick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35" dirty="0">
                <a:solidFill>
                  <a:srgbClr val="FFFFFF"/>
                </a:solidFill>
                <a:latin typeface="Verdana"/>
                <a:cs typeface="Verdana"/>
              </a:rPr>
              <a:t>0.5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2412" y="705259"/>
            <a:ext cx="7948577" cy="3383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2415" y="3783663"/>
            <a:ext cx="7948930" cy="305435"/>
          </a:xfrm>
          <a:custGeom>
            <a:avLst/>
            <a:gdLst/>
            <a:ahLst/>
            <a:cxnLst/>
            <a:rect l="l" t="t" r="r" b="b"/>
            <a:pathLst>
              <a:path w="7948930" h="305435">
                <a:moveTo>
                  <a:pt x="0" y="0"/>
                </a:moveTo>
                <a:lnTo>
                  <a:pt x="7948574" y="0"/>
                </a:lnTo>
                <a:lnTo>
                  <a:pt x="7948574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72412" y="3783672"/>
            <a:ext cx="304981" cy="30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72415" y="3847207"/>
            <a:ext cx="79489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0:41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016009" y="3783672"/>
            <a:ext cx="304977" cy="3049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92196" y="3926623"/>
            <a:ext cx="6452870" cy="19685"/>
          </a:xfrm>
          <a:custGeom>
            <a:avLst/>
            <a:gdLst/>
            <a:ahLst/>
            <a:cxnLst/>
            <a:rect l="l" t="t" r="r" b="b"/>
            <a:pathLst>
              <a:path w="6452870" h="19685">
                <a:moveTo>
                  <a:pt x="0" y="19061"/>
                </a:moveTo>
                <a:lnTo>
                  <a:pt x="6452259" y="19061"/>
                </a:lnTo>
                <a:lnTo>
                  <a:pt x="6452259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92196" y="3926623"/>
            <a:ext cx="6443345" cy="19685"/>
          </a:xfrm>
          <a:custGeom>
            <a:avLst/>
            <a:gdLst/>
            <a:ahLst/>
            <a:cxnLst/>
            <a:rect l="l" t="t" r="r" b="b"/>
            <a:pathLst>
              <a:path w="6443345" h="19685">
                <a:moveTo>
                  <a:pt x="0" y="19061"/>
                </a:moveTo>
                <a:lnTo>
                  <a:pt x="6442729" y="19061"/>
                </a:lnTo>
                <a:lnTo>
                  <a:pt x="6442729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35009" y="3878969"/>
            <a:ext cx="114367" cy="114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17103" y="4870159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17099" y="4870170"/>
            <a:ext cx="304981" cy="30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917103" y="4933703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0:01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89942" y="4870170"/>
            <a:ext cx="304981" cy="3049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36884" y="5013119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66483" y="5013119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36884" y="5013119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66483" y="5013119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79695" y="4965467"/>
            <a:ext cx="114367" cy="114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47561" y="4965467"/>
            <a:ext cx="114367" cy="114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17103" y="5966185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17099" y="5966193"/>
            <a:ext cx="304981" cy="30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17103" y="6029729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0:01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89942" y="5966193"/>
            <a:ext cx="304981" cy="3049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36884" y="6109145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66483" y="6109145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36884" y="6109145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66483" y="6109145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879695" y="6061502"/>
            <a:ext cx="114367" cy="114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47561" y="6061502"/>
            <a:ext cx="114367" cy="114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3087" y="179848"/>
            <a:ext cx="6796405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65" dirty="0"/>
              <a:t>Metodologia </a:t>
            </a:r>
            <a:r>
              <a:rPr sz="1900" spc="-175" dirty="0"/>
              <a:t>- </a:t>
            </a:r>
            <a:r>
              <a:rPr sz="1900" spc="-65" dirty="0"/>
              <a:t>Modelos </a:t>
            </a:r>
            <a:r>
              <a:rPr sz="1900" spc="-120" dirty="0"/>
              <a:t>Tradicionais: </a:t>
            </a:r>
            <a:r>
              <a:rPr sz="1900" spc="-90" dirty="0"/>
              <a:t>Diferenças</a:t>
            </a:r>
            <a:r>
              <a:rPr sz="1900" spc="-195" dirty="0"/>
              <a:t> </a:t>
            </a:r>
            <a:r>
              <a:rPr sz="1900" spc="-90" dirty="0"/>
              <a:t>Finitas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4497839" y="4316157"/>
            <a:ext cx="2190115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Diferenças</a:t>
            </a:r>
            <a:r>
              <a:rPr sz="19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Finitas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8728" y="5402652"/>
            <a:ext cx="416814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Amostra:</a:t>
            </a:r>
            <a:r>
              <a:rPr sz="1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60" dirty="0">
                <a:solidFill>
                  <a:srgbClr val="FFFFFF"/>
                </a:solidFill>
                <a:latin typeface="Verdana"/>
                <a:cs typeface="Verdana"/>
              </a:rPr>
              <a:t>440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Hz,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5" dirty="0">
                <a:solidFill>
                  <a:srgbClr val="FFFFFF"/>
                </a:solidFill>
                <a:latin typeface="Verdana"/>
                <a:cs typeface="Verdana"/>
              </a:rPr>
              <a:t>pluck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80" dirty="0">
                <a:solidFill>
                  <a:srgbClr val="FFFFFF"/>
                </a:solidFill>
                <a:latin typeface="Verdana"/>
                <a:cs typeface="Verdana"/>
              </a:rPr>
              <a:t>0.1,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45" dirty="0">
                <a:solidFill>
                  <a:srgbClr val="FFFFFF"/>
                </a:solidFill>
                <a:latin typeface="Verdana"/>
                <a:cs typeface="Verdana"/>
              </a:rPr>
              <a:t>pick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75" dirty="0">
                <a:solidFill>
                  <a:srgbClr val="FFFFFF"/>
                </a:solidFill>
                <a:latin typeface="Verdana"/>
                <a:cs typeface="Verdana"/>
              </a:rPr>
              <a:t>0.1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5565" y="6498679"/>
            <a:ext cx="4274185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Amostra: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60" dirty="0">
                <a:solidFill>
                  <a:srgbClr val="FFFFFF"/>
                </a:solidFill>
                <a:latin typeface="Verdana"/>
                <a:cs typeface="Verdana"/>
              </a:rPr>
              <a:t>440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Hz,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5" dirty="0">
                <a:solidFill>
                  <a:srgbClr val="FFFFFF"/>
                </a:solidFill>
                <a:latin typeface="Verdana"/>
                <a:cs typeface="Verdana"/>
              </a:rPr>
              <a:t>pluck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0.5,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45" dirty="0">
                <a:solidFill>
                  <a:srgbClr val="FFFFFF"/>
                </a:solidFill>
                <a:latin typeface="Verdana"/>
                <a:cs typeface="Verdana"/>
              </a:rPr>
              <a:t>pick</a:t>
            </a:r>
            <a:r>
              <a:rPr sz="19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35" dirty="0">
                <a:solidFill>
                  <a:srgbClr val="FFFFFF"/>
                </a:solidFill>
                <a:latin typeface="Verdana"/>
                <a:cs typeface="Verdana"/>
              </a:rPr>
              <a:t>0.5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923" y="705269"/>
            <a:ext cx="8253556" cy="33834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925" y="3783705"/>
            <a:ext cx="7948930" cy="305435"/>
          </a:xfrm>
          <a:custGeom>
            <a:avLst/>
            <a:gdLst/>
            <a:ahLst/>
            <a:cxnLst/>
            <a:rect l="l" t="t" r="r" b="b"/>
            <a:pathLst>
              <a:path w="7948930" h="305435">
                <a:moveTo>
                  <a:pt x="0" y="0"/>
                </a:moveTo>
                <a:lnTo>
                  <a:pt x="7948574" y="0"/>
                </a:lnTo>
                <a:lnTo>
                  <a:pt x="7948574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923" y="3783672"/>
            <a:ext cx="304981" cy="30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19925" y="3847248"/>
            <a:ext cx="79489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0:41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863507" y="3783672"/>
            <a:ext cx="304981" cy="3049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39706" y="3926664"/>
            <a:ext cx="6452870" cy="19685"/>
          </a:xfrm>
          <a:custGeom>
            <a:avLst/>
            <a:gdLst/>
            <a:ahLst/>
            <a:cxnLst/>
            <a:rect l="l" t="t" r="r" b="b"/>
            <a:pathLst>
              <a:path w="6452870" h="19685">
                <a:moveTo>
                  <a:pt x="0" y="19061"/>
                </a:moveTo>
                <a:lnTo>
                  <a:pt x="6452259" y="19061"/>
                </a:lnTo>
                <a:lnTo>
                  <a:pt x="6452259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39708" y="3926664"/>
            <a:ext cx="6452870" cy="19050"/>
          </a:xfrm>
          <a:custGeom>
            <a:avLst/>
            <a:gdLst/>
            <a:ahLst/>
            <a:cxnLst/>
            <a:rect l="l" t="t" r="r" b="b"/>
            <a:pathLst>
              <a:path w="6452870" h="19050">
                <a:moveTo>
                  <a:pt x="0" y="19026"/>
                </a:moveTo>
                <a:lnTo>
                  <a:pt x="6452260" y="19026"/>
                </a:lnTo>
                <a:lnTo>
                  <a:pt x="6452260" y="0"/>
                </a:lnTo>
                <a:lnTo>
                  <a:pt x="0" y="0"/>
                </a:lnTo>
                <a:lnTo>
                  <a:pt x="0" y="19026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82520" y="3878969"/>
            <a:ext cx="114367" cy="114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17103" y="4870200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17099" y="4870170"/>
            <a:ext cx="304981" cy="30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917103" y="4933744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0:01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89942" y="4870170"/>
            <a:ext cx="304981" cy="3049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36884" y="5013160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66483" y="5013160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36884" y="5013160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66483" y="5013160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79695" y="4965467"/>
            <a:ext cx="114367" cy="114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47561" y="4965467"/>
            <a:ext cx="114367" cy="114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17103" y="5966227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17099" y="5966193"/>
            <a:ext cx="304981" cy="30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17103" y="6029770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0:01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89942" y="5966193"/>
            <a:ext cx="304981" cy="3049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36884" y="6109187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66483" y="6109187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36884" y="6109187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66483" y="6109187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879695" y="6061502"/>
            <a:ext cx="114367" cy="114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47561" y="6061502"/>
            <a:ext cx="114367" cy="114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5114" y="322087"/>
            <a:ext cx="7371080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spc="-140" dirty="0"/>
              <a:t>Metodologia </a:t>
            </a:r>
            <a:r>
              <a:rPr sz="3350" spc="-320" dirty="0"/>
              <a:t>- </a:t>
            </a:r>
            <a:r>
              <a:rPr sz="3350" spc="-120" dirty="0"/>
              <a:t>Domínio </a:t>
            </a:r>
            <a:r>
              <a:rPr sz="3350" spc="-105" dirty="0"/>
              <a:t>do</a:t>
            </a:r>
            <a:r>
              <a:rPr sz="3350" spc="-400" dirty="0"/>
              <a:t> </a:t>
            </a:r>
            <a:r>
              <a:rPr sz="3350" spc="-190" dirty="0"/>
              <a:t>tempo: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991906" y="1296161"/>
            <a:ext cx="6709590" cy="4765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08281" y="6459835"/>
            <a:ext cx="4132579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spc="15" dirty="0">
                <a:solidFill>
                  <a:srgbClr val="FFFFFF"/>
                </a:solidFill>
                <a:latin typeface="Verdana"/>
                <a:cs typeface="Verdana"/>
              </a:rPr>
              <a:t>Convolução</a:t>
            </a:r>
            <a:r>
              <a:rPr sz="335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350" spc="-10" dirty="0">
                <a:solidFill>
                  <a:srgbClr val="FFFFFF"/>
                </a:solidFill>
                <a:latin typeface="Verdana"/>
                <a:cs typeface="Verdana"/>
              </a:rPr>
              <a:t>Alisada</a:t>
            </a:r>
            <a:endParaRPr sz="3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5708" y="322128"/>
            <a:ext cx="7048500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spc="-180" dirty="0"/>
              <a:t>Resultados </a:t>
            </a:r>
            <a:r>
              <a:rPr sz="3350" spc="-320" dirty="0"/>
              <a:t>- </a:t>
            </a:r>
            <a:r>
              <a:rPr sz="3350" spc="-120" dirty="0"/>
              <a:t>Domínio </a:t>
            </a:r>
            <a:r>
              <a:rPr sz="3350" spc="-105" dirty="0"/>
              <a:t>do</a:t>
            </a:r>
            <a:r>
              <a:rPr sz="3350" spc="-360" dirty="0"/>
              <a:t> </a:t>
            </a:r>
            <a:r>
              <a:rPr sz="3350" spc="-190" dirty="0"/>
              <a:t>tempo: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381946" y="1296161"/>
            <a:ext cx="7929515" cy="47845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4562" y="6478937"/>
            <a:ext cx="3879850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spc="45" dirty="0">
                <a:solidFill>
                  <a:srgbClr val="FFFFFF"/>
                </a:solidFill>
                <a:latin typeface="Verdana"/>
                <a:cs typeface="Verdana"/>
              </a:rPr>
              <a:t>Descontinuidades</a:t>
            </a:r>
            <a:endParaRPr sz="3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7136" y="365120"/>
            <a:ext cx="7749540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00" spc="-204" dirty="0"/>
              <a:t>Resultados </a:t>
            </a:r>
            <a:r>
              <a:rPr sz="3700" spc="-360" dirty="0"/>
              <a:t>- </a:t>
            </a:r>
            <a:r>
              <a:rPr sz="3700" spc="-140" dirty="0"/>
              <a:t>Domínio </a:t>
            </a:r>
            <a:r>
              <a:rPr sz="3700" spc="-125" dirty="0"/>
              <a:t>do</a:t>
            </a:r>
            <a:r>
              <a:rPr sz="3700" spc="-425" dirty="0"/>
              <a:t> </a:t>
            </a:r>
            <a:r>
              <a:rPr sz="3700" spc="-220" dirty="0"/>
              <a:t>tempo: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5310766" y="2099702"/>
            <a:ext cx="1013460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00" spc="8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700" spc="-5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700" spc="-29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3700" spc="5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9629" y="3920058"/>
            <a:ext cx="2375535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00" spc="50" dirty="0">
                <a:solidFill>
                  <a:srgbClr val="FFFFFF"/>
                </a:solidFill>
                <a:latin typeface="Verdana"/>
                <a:cs typeface="Verdana"/>
              </a:rPr>
              <a:t>Re</a:t>
            </a:r>
            <a:r>
              <a:rPr sz="3700" spc="-16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700" spc="13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3700" spc="-8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700" spc="-25" dirty="0">
                <a:solidFill>
                  <a:srgbClr val="FFFFFF"/>
                </a:solidFill>
                <a:latin typeface="Verdana"/>
                <a:cs typeface="Verdana"/>
              </a:rPr>
              <a:t>ta</a:t>
            </a:r>
            <a:r>
              <a:rPr sz="3700" spc="19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700" spc="5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26150" y="5740415"/>
            <a:ext cx="4182745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00" spc="20" dirty="0">
                <a:solidFill>
                  <a:srgbClr val="FFFFFF"/>
                </a:solidFill>
                <a:latin typeface="Verdana"/>
                <a:cs typeface="Verdana"/>
              </a:rPr>
              <a:t>Resultado</a:t>
            </a:r>
            <a:r>
              <a:rPr sz="3700" spc="-40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Alisado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17103" y="1353382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17099" y="1353358"/>
            <a:ext cx="304981" cy="3049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17103" y="1416925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0:01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89942" y="1353358"/>
            <a:ext cx="304981" cy="3049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36884" y="1496342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4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66483" y="1496342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4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36884" y="1496342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4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66483" y="1496342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4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79695" y="1448659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47561" y="1448659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17103" y="3173739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17099" y="3173713"/>
            <a:ext cx="304981" cy="3049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917103" y="3237282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0:01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89942" y="3173713"/>
            <a:ext cx="304981" cy="3049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36884" y="3316699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66483" y="3316699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36884" y="3316699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66483" y="3316699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879695" y="3269013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47561" y="3269013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17103" y="4984565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917099" y="4984534"/>
            <a:ext cx="304981" cy="3049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917103" y="5048108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0:01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889942" y="4984534"/>
            <a:ext cx="304981" cy="30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36884" y="5127525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66483" y="5127525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36884" y="5127525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366483" y="5127525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879695" y="5079843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547561" y="5079843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489" y="281482"/>
            <a:ext cx="10046335" cy="20821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50" b="1" spc="-120" dirty="0">
                <a:solidFill>
                  <a:srgbClr val="FFFFFF"/>
                </a:solidFill>
                <a:latin typeface="Verdana"/>
                <a:cs typeface="Verdana"/>
              </a:rPr>
              <a:t>Metodologia </a:t>
            </a:r>
            <a:r>
              <a:rPr sz="2850" b="1" spc="-275" dirty="0">
                <a:solidFill>
                  <a:srgbClr val="FFFFFF"/>
                </a:solidFill>
                <a:latin typeface="Verdana"/>
                <a:cs typeface="Verdana"/>
              </a:rPr>
              <a:t>- </a:t>
            </a:r>
            <a:r>
              <a:rPr sz="2850" b="1" spc="-105" dirty="0">
                <a:solidFill>
                  <a:srgbClr val="FFFFFF"/>
                </a:solidFill>
                <a:latin typeface="Verdana"/>
                <a:cs typeface="Verdana"/>
              </a:rPr>
              <a:t>Domínio </a:t>
            </a:r>
            <a:r>
              <a:rPr sz="2850" b="1" spc="-120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2850" b="1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b="1" spc="-160" dirty="0">
                <a:solidFill>
                  <a:srgbClr val="FFFFFF"/>
                </a:solidFill>
                <a:latin typeface="Verdana"/>
                <a:cs typeface="Verdana"/>
              </a:rPr>
              <a:t>Frequência:</a:t>
            </a:r>
            <a:endParaRPr sz="2850">
              <a:latin typeface="Verdana"/>
              <a:cs typeface="Verdana"/>
            </a:endParaRPr>
          </a:p>
          <a:p>
            <a:pPr marL="375920">
              <a:lnSpc>
                <a:spcPct val="100000"/>
              </a:lnSpc>
              <a:spcBef>
                <a:spcPts val="2960"/>
              </a:spcBef>
            </a:pPr>
            <a:r>
              <a:rPr sz="2850" spc="90" dirty="0">
                <a:solidFill>
                  <a:srgbClr val="FFFFFF"/>
                </a:solidFill>
                <a:latin typeface="Verdana"/>
                <a:cs typeface="Verdana"/>
              </a:rPr>
              <a:t>Método</a:t>
            </a:r>
            <a:r>
              <a:rPr sz="285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dirty="0">
                <a:solidFill>
                  <a:srgbClr val="FFFFFF"/>
                </a:solidFill>
                <a:latin typeface="Verdana"/>
                <a:cs typeface="Verdana"/>
              </a:rPr>
              <a:t>direto</a:t>
            </a:r>
            <a:r>
              <a:rPr sz="285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15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85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20" dirty="0">
                <a:solidFill>
                  <a:srgbClr val="FFFFFF"/>
                </a:solidFill>
                <a:latin typeface="Verdana"/>
                <a:cs typeface="Verdana"/>
              </a:rPr>
              <a:t>sons</a:t>
            </a:r>
            <a:r>
              <a:rPr sz="285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65" dirty="0">
                <a:solidFill>
                  <a:srgbClr val="FFFFFF"/>
                </a:solidFill>
                <a:latin typeface="Verdana"/>
                <a:cs typeface="Verdana"/>
              </a:rPr>
              <a:t>mal</a:t>
            </a:r>
            <a:r>
              <a:rPr sz="285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50" dirty="0">
                <a:solidFill>
                  <a:srgbClr val="FFFFFF"/>
                </a:solidFill>
                <a:latin typeface="Verdana"/>
                <a:cs typeface="Verdana"/>
              </a:rPr>
              <a:t>comportados</a:t>
            </a:r>
            <a:endParaRPr sz="2850">
              <a:latin typeface="Verdana"/>
              <a:cs typeface="Verdana"/>
            </a:endParaRPr>
          </a:p>
          <a:p>
            <a:pPr marL="375920">
              <a:lnSpc>
                <a:spcPct val="100000"/>
              </a:lnSpc>
              <a:spcBef>
                <a:spcPts val="2960"/>
              </a:spcBef>
            </a:pPr>
            <a:r>
              <a:rPr sz="2850" spc="90" dirty="0">
                <a:solidFill>
                  <a:srgbClr val="FFFFFF"/>
                </a:solidFill>
                <a:latin typeface="Verdana"/>
                <a:cs typeface="Verdana"/>
              </a:rPr>
              <a:t>Método</a:t>
            </a:r>
            <a:r>
              <a:rPr sz="285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40" dirty="0">
                <a:solidFill>
                  <a:srgbClr val="FFFFFF"/>
                </a:solidFill>
                <a:latin typeface="Verdana"/>
                <a:cs typeface="Verdana"/>
              </a:rPr>
              <a:t>ﬁsicamente</a:t>
            </a:r>
            <a:r>
              <a:rPr sz="285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35" dirty="0">
                <a:solidFill>
                  <a:srgbClr val="FFFFFF"/>
                </a:solidFill>
                <a:latin typeface="Verdana"/>
                <a:cs typeface="Verdana"/>
              </a:rPr>
              <a:t>informado</a:t>
            </a:r>
            <a:r>
              <a:rPr sz="285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15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85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20" dirty="0">
                <a:solidFill>
                  <a:srgbClr val="FFFFFF"/>
                </a:solidFill>
                <a:latin typeface="Verdana"/>
                <a:cs typeface="Verdana"/>
              </a:rPr>
              <a:t>sons</a:t>
            </a:r>
            <a:r>
              <a:rPr sz="28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35" dirty="0">
                <a:solidFill>
                  <a:srgbClr val="FFFFFF"/>
                </a:solidFill>
                <a:latin typeface="Verdana"/>
                <a:cs typeface="Verdana"/>
              </a:rPr>
              <a:t>harmônicos</a:t>
            </a:r>
            <a:endParaRPr sz="285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49955" y="2735300"/>
            <a:ext cx="4193493" cy="28592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53994" y="5933166"/>
            <a:ext cx="9712325" cy="4616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50" spc="5" dirty="0">
                <a:solidFill>
                  <a:srgbClr val="FFFFFF"/>
                </a:solidFill>
                <a:latin typeface="Verdana"/>
                <a:cs typeface="Verdana"/>
              </a:rPr>
              <a:t>Espectros</a:t>
            </a:r>
            <a:r>
              <a:rPr sz="285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8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8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25" dirty="0">
                <a:solidFill>
                  <a:srgbClr val="FFFFFF"/>
                </a:solidFill>
                <a:latin typeface="Verdana"/>
                <a:cs typeface="Verdana"/>
              </a:rPr>
              <a:t>frequência:</a:t>
            </a:r>
            <a:r>
              <a:rPr sz="28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65" dirty="0">
                <a:solidFill>
                  <a:srgbClr val="FFFFFF"/>
                </a:solidFill>
                <a:latin typeface="Verdana"/>
                <a:cs typeface="Verdana"/>
              </a:rPr>
              <a:t>Não</a:t>
            </a:r>
            <a:r>
              <a:rPr sz="28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50" dirty="0">
                <a:solidFill>
                  <a:srgbClr val="FFFFFF"/>
                </a:solidFill>
                <a:latin typeface="Verdana"/>
                <a:cs typeface="Verdana"/>
              </a:rPr>
              <a:t>harmônico</a:t>
            </a:r>
            <a:r>
              <a:rPr sz="285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204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8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50" dirty="0">
                <a:solidFill>
                  <a:srgbClr val="FFFFFF"/>
                </a:solidFill>
                <a:latin typeface="Verdana"/>
                <a:cs typeface="Verdana"/>
              </a:rPr>
              <a:t>harmônico</a:t>
            </a:r>
            <a:endParaRPr sz="2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504" y="273137"/>
            <a:ext cx="9973310" cy="2793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05" dirty="0"/>
              <a:t>Metodologia </a:t>
            </a:r>
            <a:r>
              <a:rPr sz="2750" spc="-260" dirty="0"/>
              <a:t>- </a:t>
            </a:r>
            <a:r>
              <a:rPr sz="2750" spc="-90" dirty="0"/>
              <a:t>Domínio </a:t>
            </a:r>
            <a:r>
              <a:rPr sz="2750" spc="-105" dirty="0"/>
              <a:t>da </a:t>
            </a:r>
            <a:r>
              <a:rPr sz="2750" spc="-114" dirty="0"/>
              <a:t>Frequência </a:t>
            </a:r>
            <a:r>
              <a:rPr sz="2750" spc="-260" dirty="0"/>
              <a:t>- </a:t>
            </a:r>
            <a:r>
              <a:rPr sz="2750" spc="-85" dirty="0"/>
              <a:t>Método</a:t>
            </a:r>
            <a:r>
              <a:rPr sz="2750" spc="-434" dirty="0"/>
              <a:t> </a:t>
            </a:r>
            <a:r>
              <a:rPr sz="2750" spc="-185" dirty="0"/>
              <a:t>Direto:</a:t>
            </a:r>
            <a:endParaRPr sz="2750"/>
          </a:p>
          <a:p>
            <a:pPr marL="365125">
              <a:lnSpc>
                <a:spcPct val="100000"/>
              </a:lnSpc>
              <a:spcBef>
                <a:spcPts val="2855"/>
              </a:spcBef>
            </a:pPr>
            <a:r>
              <a:rPr sz="2750" b="0" spc="-110" dirty="0">
                <a:latin typeface="Verdana"/>
                <a:cs typeface="Verdana"/>
              </a:rPr>
              <a:t>caixa,</a:t>
            </a:r>
            <a:r>
              <a:rPr sz="2750" b="0" spc="-260" dirty="0">
                <a:latin typeface="Verdana"/>
                <a:cs typeface="Verdana"/>
              </a:rPr>
              <a:t> </a:t>
            </a:r>
            <a:r>
              <a:rPr sz="2750" b="0" spc="20" dirty="0">
                <a:latin typeface="Verdana"/>
                <a:cs typeface="Verdana"/>
              </a:rPr>
              <a:t>contratempo,tambores</a:t>
            </a:r>
            <a:r>
              <a:rPr sz="2750" b="0" spc="-260" dirty="0">
                <a:latin typeface="Verdana"/>
                <a:cs typeface="Verdana"/>
              </a:rPr>
              <a:t> </a:t>
            </a:r>
            <a:r>
              <a:rPr sz="2750" b="0" spc="-195" dirty="0">
                <a:latin typeface="Verdana"/>
                <a:cs typeface="Verdana"/>
              </a:rPr>
              <a:t>-</a:t>
            </a:r>
            <a:r>
              <a:rPr sz="2750" b="0" spc="-260" dirty="0">
                <a:latin typeface="Verdana"/>
                <a:cs typeface="Verdana"/>
              </a:rPr>
              <a:t> </a:t>
            </a:r>
            <a:r>
              <a:rPr sz="2750" b="0" spc="-300" dirty="0">
                <a:latin typeface="Verdana"/>
                <a:cs typeface="Verdana"/>
              </a:rPr>
              <a:t>120</a:t>
            </a:r>
            <a:r>
              <a:rPr sz="2750" b="0" spc="-254" dirty="0">
                <a:latin typeface="Verdana"/>
                <a:cs typeface="Verdana"/>
              </a:rPr>
              <a:t> </a:t>
            </a:r>
            <a:r>
              <a:rPr sz="2750" b="0" spc="55" dirty="0">
                <a:latin typeface="Verdana"/>
                <a:cs typeface="Verdana"/>
              </a:rPr>
              <a:t>008</a:t>
            </a:r>
            <a:r>
              <a:rPr sz="2750" b="0" spc="-260" dirty="0">
                <a:latin typeface="Verdana"/>
                <a:cs typeface="Verdana"/>
              </a:rPr>
              <a:t> </a:t>
            </a:r>
            <a:r>
              <a:rPr sz="2750" b="0" spc="-30" dirty="0">
                <a:latin typeface="Verdana"/>
                <a:cs typeface="Verdana"/>
              </a:rPr>
              <a:t>neurons,</a:t>
            </a:r>
            <a:r>
              <a:rPr sz="2750" b="0" spc="-260" dirty="0">
                <a:latin typeface="Verdana"/>
                <a:cs typeface="Verdana"/>
              </a:rPr>
              <a:t> </a:t>
            </a:r>
            <a:r>
              <a:rPr sz="2750" b="0" spc="-400" dirty="0">
                <a:latin typeface="Verdana"/>
                <a:cs typeface="Verdana"/>
              </a:rPr>
              <a:t>1.4</a:t>
            </a:r>
            <a:r>
              <a:rPr sz="2750" b="0" spc="-254" dirty="0">
                <a:latin typeface="Verdana"/>
                <a:cs typeface="Verdana"/>
              </a:rPr>
              <a:t> </a:t>
            </a:r>
            <a:r>
              <a:rPr sz="2750" b="0" dirty="0">
                <a:latin typeface="Verdana"/>
                <a:cs typeface="Verdana"/>
              </a:rPr>
              <a:t>Mb.</a:t>
            </a:r>
            <a:endParaRPr sz="2750">
              <a:latin typeface="Verdana"/>
              <a:cs typeface="Verdana"/>
            </a:endParaRPr>
          </a:p>
          <a:p>
            <a:pPr marL="365125" marR="4124960">
              <a:lnSpc>
                <a:spcPct val="186500"/>
              </a:lnSpc>
            </a:pPr>
            <a:r>
              <a:rPr sz="2750" b="0" spc="-10" dirty="0">
                <a:latin typeface="Verdana"/>
                <a:cs typeface="Verdana"/>
              </a:rPr>
              <a:t>pratos</a:t>
            </a:r>
            <a:r>
              <a:rPr sz="2750" b="0" spc="-265" dirty="0">
                <a:latin typeface="Verdana"/>
                <a:cs typeface="Verdana"/>
              </a:rPr>
              <a:t> </a:t>
            </a:r>
            <a:r>
              <a:rPr sz="2750" b="0" spc="-195" dirty="0">
                <a:latin typeface="Verdana"/>
                <a:cs typeface="Verdana"/>
              </a:rPr>
              <a:t>-</a:t>
            </a:r>
            <a:r>
              <a:rPr sz="2750" b="0" spc="-265" dirty="0">
                <a:latin typeface="Verdana"/>
                <a:cs typeface="Verdana"/>
              </a:rPr>
              <a:t> </a:t>
            </a:r>
            <a:r>
              <a:rPr sz="2750" b="0" spc="-65" dirty="0">
                <a:latin typeface="Verdana"/>
                <a:cs typeface="Verdana"/>
              </a:rPr>
              <a:t>360</a:t>
            </a:r>
            <a:r>
              <a:rPr sz="2750" b="0" spc="-265" dirty="0">
                <a:latin typeface="Verdana"/>
                <a:cs typeface="Verdana"/>
              </a:rPr>
              <a:t> </a:t>
            </a:r>
            <a:r>
              <a:rPr sz="2750" b="0" spc="55" dirty="0">
                <a:latin typeface="Verdana"/>
                <a:cs typeface="Verdana"/>
              </a:rPr>
              <a:t>008</a:t>
            </a:r>
            <a:r>
              <a:rPr sz="2750" b="0" spc="-265" dirty="0">
                <a:latin typeface="Verdana"/>
                <a:cs typeface="Verdana"/>
              </a:rPr>
              <a:t> </a:t>
            </a:r>
            <a:r>
              <a:rPr sz="2750" b="0" spc="-30" dirty="0">
                <a:latin typeface="Verdana"/>
                <a:cs typeface="Verdana"/>
              </a:rPr>
              <a:t>neurons,</a:t>
            </a:r>
            <a:r>
              <a:rPr sz="2750" b="0" spc="-265" dirty="0">
                <a:latin typeface="Verdana"/>
                <a:cs typeface="Verdana"/>
              </a:rPr>
              <a:t> </a:t>
            </a:r>
            <a:r>
              <a:rPr sz="2750" b="0" spc="-80" dirty="0">
                <a:latin typeface="Verdana"/>
                <a:cs typeface="Verdana"/>
              </a:rPr>
              <a:t>9</a:t>
            </a:r>
            <a:r>
              <a:rPr sz="2750" b="0" spc="-265" dirty="0">
                <a:latin typeface="Verdana"/>
                <a:cs typeface="Verdana"/>
              </a:rPr>
              <a:t> </a:t>
            </a:r>
            <a:r>
              <a:rPr sz="2750" b="0" dirty="0">
                <a:latin typeface="Verdana"/>
                <a:cs typeface="Verdana"/>
              </a:rPr>
              <a:t>Mb.  </a:t>
            </a:r>
            <a:r>
              <a:rPr sz="2750" b="0" spc="-5" dirty="0">
                <a:latin typeface="Verdana"/>
                <a:cs typeface="Verdana"/>
              </a:rPr>
              <a:t>redes</a:t>
            </a:r>
            <a:r>
              <a:rPr sz="2750" b="0" spc="-270" dirty="0">
                <a:latin typeface="Verdana"/>
                <a:cs typeface="Verdana"/>
              </a:rPr>
              <a:t> </a:t>
            </a:r>
            <a:r>
              <a:rPr sz="2750" b="0" spc="135" dirty="0">
                <a:latin typeface="Verdana"/>
                <a:cs typeface="Verdana"/>
              </a:rPr>
              <a:t>com</a:t>
            </a:r>
            <a:r>
              <a:rPr sz="2750" b="0" spc="-270" dirty="0">
                <a:latin typeface="Verdana"/>
                <a:cs typeface="Verdana"/>
              </a:rPr>
              <a:t> </a:t>
            </a:r>
            <a:r>
              <a:rPr sz="2750" b="0" spc="120" dirty="0">
                <a:latin typeface="Verdana"/>
                <a:cs typeface="Verdana"/>
              </a:rPr>
              <a:t>uma</a:t>
            </a:r>
            <a:r>
              <a:rPr sz="2750" b="0" spc="-265" dirty="0">
                <a:latin typeface="Verdana"/>
                <a:cs typeface="Verdana"/>
              </a:rPr>
              <a:t> </a:t>
            </a:r>
            <a:r>
              <a:rPr sz="2750" b="0" spc="75" dirty="0">
                <a:latin typeface="Verdana"/>
                <a:cs typeface="Verdana"/>
              </a:rPr>
              <a:t>camada</a:t>
            </a:r>
            <a:r>
              <a:rPr sz="2750" b="0" spc="-270" dirty="0">
                <a:latin typeface="Verdana"/>
                <a:cs typeface="Verdana"/>
              </a:rPr>
              <a:t> </a:t>
            </a:r>
            <a:r>
              <a:rPr sz="2750" b="0" spc="35" dirty="0">
                <a:latin typeface="Verdana"/>
                <a:cs typeface="Verdana"/>
              </a:rPr>
              <a:t>oculta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62809" y="4056810"/>
            <a:ext cx="627380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70" dirty="0">
                <a:solidFill>
                  <a:srgbClr val="FFFFFF"/>
                </a:solidFill>
                <a:latin typeface="Verdana"/>
                <a:cs typeface="Verdana"/>
              </a:rPr>
              <a:t>Dinâmica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55" dirty="0">
                <a:solidFill>
                  <a:srgbClr val="FFFFFF"/>
                </a:solidFill>
                <a:latin typeface="Verdana"/>
                <a:cs typeface="Verdana"/>
              </a:rPr>
              <a:t>Caixa</a:t>
            </a:r>
            <a:r>
              <a:rPr sz="275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9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15" dirty="0">
                <a:solidFill>
                  <a:srgbClr val="FFFFFF"/>
                </a:solidFill>
                <a:latin typeface="Verdana"/>
                <a:cs typeface="Verdana"/>
              </a:rPr>
              <a:t>Centro</a:t>
            </a:r>
            <a:r>
              <a:rPr sz="275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5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75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50" dirty="0">
                <a:solidFill>
                  <a:srgbClr val="FFFFFF"/>
                </a:solidFill>
                <a:latin typeface="Verdana"/>
                <a:cs typeface="Verdana"/>
              </a:rPr>
              <a:t>Borda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5375" y="5495940"/>
            <a:ext cx="734885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70" dirty="0">
                <a:solidFill>
                  <a:srgbClr val="FFFFFF"/>
                </a:solidFill>
                <a:latin typeface="Verdana"/>
                <a:cs typeface="Verdana"/>
              </a:rPr>
              <a:t>Dinâmica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50" dirty="0">
                <a:solidFill>
                  <a:srgbClr val="FFFFFF"/>
                </a:solidFill>
                <a:latin typeface="Verdana"/>
                <a:cs typeface="Verdana"/>
              </a:rPr>
              <a:t>Contratempo</a:t>
            </a:r>
            <a:r>
              <a:rPr sz="275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9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25" dirty="0">
                <a:solidFill>
                  <a:srgbClr val="FFFFFF"/>
                </a:solidFill>
                <a:latin typeface="Verdana"/>
                <a:cs typeface="Verdana"/>
              </a:rPr>
              <a:t>Fraco</a:t>
            </a:r>
            <a:r>
              <a:rPr sz="275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5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20" dirty="0">
                <a:solidFill>
                  <a:srgbClr val="FFFFFF"/>
                </a:solidFill>
                <a:latin typeface="Verdana"/>
                <a:cs typeface="Verdana"/>
              </a:rPr>
              <a:t>Forte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17103" y="3421618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7099" y="3421507"/>
            <a:ext cx="304981" cy="3049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7103" y="3485161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0:01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89942" y="3421507"/>
            <a:ext cx="304981" cy="3049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36884" y="3564578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66483" y="3564578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36884" y="3564578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66483" y="3564578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79695" y="3516803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47561" y="3516803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17103" y="4860749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17099" y="4860645"/>
            <a:ext cx="304981" cy="3049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17103" y="4924291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0:15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889942" y="4860645"/>
            <a:ext cx="304981" cy="3049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36884" y="5003709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66483" y="5003709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36884" y="5003709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66483" y="5003709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79695" y="4955942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547561" y="4955942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861" y="172597"/>
            <a:ext cx="820547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spc="-70" dirty="0">
                <a:solidFill>
                  <a:srgbClr val="FFFFFF"/>
                </a:solidFill>
                <a:latin typeface="Verdana"/>
                <a:cs typeface="Verdana"/>
              </a:rPr>
              <a:t>Metodologia </a:t>
            </a:r>
            <a:r>
              <a:rPr sz="1750" b="1" spc="-165" dirty="0">
                <a:solidFill>
                  <a:srgbClr val="FFFFFF"/>
                </a:solidFill>
                <a:latin typeface="Verdana"/>
                <a:cs typeface="Verdana"/>
              </a:rPr>
              <a:t>- </a:t>
            </a:r>
            <a:r>
              <a:rPr sz="1750" b="1" spc="-55" dirty="0">
                <a:solidFill>
                  <a:srgbClr val="FFFFFF"/>
                </a:solidFill>
                <a:latin typeface="Verdana"/>
                <a:cs typeface="Verdana"/>
              </a:rPr>
              <a:t>Domínio </a:t>
            </a:r>
            <a:r>
              <a:rPr sz="1750" b="1" spc="-65" dirty="0">
                <a:solidFill>
                  <a:srgbClr val="FFFFFF"/>
                </a:solidFill>
                <a:latin typeface="Verdana"/>
                <a:cs typeface="Verdana"/>
              </a:rPr>
              <a:t>da </a:t>
            </a:r>
            <a:r>
              <a:rPr sz="1750" b="1" spc="-75" dirty="0">
                <a:solidFill>
                  <a:srgbClr val="FFFFFF"/>
                </a:solidFill>
                <a:latin typeface="Verdana"/>
                <a:cs typeface="Verdana"/>
              </a:rPr>
              <a:t>Frequência </a:t>
            </a:r>
            <a:r>
              <a:rPr sz="1750" b="1" spc="-165" dirty="0">
                <a:solidFill>
                  <a:srgbClr val="FFFFFF"/>
                </a:solidFill>
                <a:latin typeface="Verdana"/>
                <a:cs typeface="Verdana"/>
              </a:rPr>
              <a:t>- </a:t>
            </a:r>
            <a:r>
              <a:rPr sz="1750" b="1" spc="-55" dirty="0">
                <a:solidFill>
                  <a:srgbClr val="FFFFFF"/>
                </a:solidFill>
                <a:latin typeface="Verdana"/>
                <a:cs typeface="Verdana"/>
              </a:rPr>
              <a:t>Método </a:t>
            </a:r>
            <a:r>
              <a:rPr sz="1750" b="1" spc="-75" dirty="0">
                <a:solidFill>
                  <a:srgbClr val="FFFFFF"/>
                </a:solidFill>
                <a:latin typeface="Verdana"/>
                <a:cs typeface="Verdana"/>
              </a:rPr>
              <a:t>Fisicamente</a:t>
            </a:r>
            <a:r>
              <a:rPr sz="1750" b="1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b="1" spc="-135" dirty="0">
                <a:solidFill>
                  <a:srgbClr val="FFFFFF"/>
                </a:solidFill>
                <a:latin typeface="Verdana"/>
                <a:cs typeface="Verdana"/>
              </a:rPr>
              <a:t>Informado: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34436" y="686206"/>
            <a:ext cx="7624536" cy="16488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42365" y="2545733"/>
            <a:ext cx="245808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15" dirty="0">
                <a:solidFill>
                  <a:srgbClr val="FFFFFF"/>
                </a:solidFill>
                <a:latin typeface="Verdana"/>
                <a:cs typeface="Verdana"/>
              </a:rPr>
              <a:t>Identiﬁcação </a:t>
            </a:r>
            <a:r>
              <a:rPr sz="1750" spc="5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750" spc="-40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20" dirty="0">
                <a:solidFill>
                  <a:srgbClr val="FFFFFF"/>
                </a:solidFill>
                <a:latin typeface="Verdana"/>
                <a:cs typeface="Verdana"/>
              </a:rPr>
              <a:t>picos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1370" y="3059353"/>
            <a:ext cx="9530664" cy="27162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6427" y="5986303"/>
            <a:ext cx="9857740" cy="7905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114"/>
              </a:spcBef>
            </a:pPr>
            <a:r>
              <a:rPr sz="1750" spc="15" dirty="0">
                <a:solidFill>
                  <a:srgbClr val="FFFFFF"/>
                </a:solidFill>
                <a:latin typeface="Verdana"/>
                <a:cs typeface="Verdana"/>
              </a:rPr>
              <a:t>Identiﬁcação </a:t>
            </a:r>
            <a:r>
              <a:rPr sz="1750" spc="5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750" spc="-3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30" dirty="0">
                <a:solidFill>
                  <a:srgbClr val="FFFFFF"/>
                </a:solidFill>
                <a:latin typeface="Verdana"/>
                <a:cs typeface="Verdana"/>
              </a:rPr>
              <a:t>decaimentos</a:t>
            </a:r>
            <a:endParaRPr sz="17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805"/>
              </a:spcBef>
            </a:pPr>
            <a:r>
              <a:rPr sz="1750" spc="-55" dirty="0">
                <a:solidFill>
                  <a:srgbClr val="FFFFFF"/>
                </a:solidFill>
                <a:latin typeface="Verdana"/>
                <a:cs typeface="Verdana"/>
              </a:rPr>
              <a:t>Redes:</a:t>
            </a:r>
            <a:r>
              <a:rPr sz="17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35" dirty="0">
                <a:solidFill>
                  <a:srgbClr val="FFFFFF"/>
                </a:solidFill>
                <a:latin typeface="Verdana"/>
                <a:cs typeface="Verdana"/>
              </a:rPr>
              <a:t>amplitudes</a:t>
            </a:r>
            <a:r>
              <a:rPr sz="1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30" dirty="0">
                <a:solidFill>
                  <a:srgbClr val="FFFFFF"/>
                </a:solidFill>
                <a:latin typeface="Verdana"/>
                <a:cs typeface="Verdana"/>
              </a:rPr>
              <a:t>decaimentos</a:t>
            </a:r>
            <a:r>
              <a:rPr sz="1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12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1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130" dirty="0">
                <a:solidFill>
                  <a:srgbClr val="FFFFFF"/>
                </a:solidFill>
                <a:latin typeface="Verdana"/>
                <a:cs typeface="Verdana"/>
              </a:rPr>
              <a:t>5</a:t>
            </a:r>
            <a:r>
              <a:rPr sz="1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190" dirty="0">
                <a:solidFill>
                  <a:srgbClr val="FFFFFF"/>
                </a:solidFill>
                <a:latin typeface="Verdana"/>
                <a:cs typeface="Verdana"/>
              </a:rPr>
              <a:t>301</a:t>
            </a:r>
            <a:r>
              <a:rPr sz="1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Verdana"/>
                <a:cs typeface="Verdana"/>
              </a:rPr>
              <a:t>neurons,</a:t>
            </a:r>
            <a:r>
              <a:rPr sz="1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60" dirty="0">
                <a:solidFill>
                  <a:srgbClr val="FFFFFF"/>
                </a:solidFill>
                <a:latin typeface="Verdana"/>
                <a:cs typeface="Verdana"/>
              </a:rPr>
              <a:t>100kb</a:t>
            </a:r>
            <a:r>
              <a:rPr sz="1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285" dirty="0">
                <a:solidFill>
                  <a:srgbClr val="FFFFFF"/>
                </a:solidFill>
                <a:latin typeface="Verdana"/>
                <a:cs typeface="Verdana"/>
              </a:rPr>
              <a:t>|</a:t>
            </a:r>
            <a:r>
              <a:rPr sz="1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25" dirty="0">
                <a:solidFill>
                  <a:srgbClr val="FFFFFF"/>
                </a:solidFill>
                <a:latin typeface="Verdana"/>
                <a:cs typeface="Verdana"/>
              </a:rPr>
              <a:t>frequências</a:t>
            </a:r>
            <a:r>
              <a:rPr sz="1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225" dirty="0">
                <a:solidFill>
                  <a:srgbClr val="FFFFFF"/>
                </a:solidFill>
                <a:latin typeface="Verdana"/>
                <a:cs typeface="Verdana"/>
              </a:rPr>
              <a:t>261</a:t>
            </a:r>
            <a:r>
              <a:rPr sz="1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Verdana"/>
                <a:cs typeface="Verdana"/>
              </a:rPr>
              <a:t>neurons,</a:t>
            </a:r>
            <a:r>
              <a:rPr sz="1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40" dirty="0">
                <a:solidFill>
                  <a:srgbClr val="FFFFFF"/>
                </a:solidFill>
                <a:latin typeface="Verdana"/>
                <a:cs typeface="Verdana"/>
              </a:rPr>
              <a:t>50</a:t>
            </a:r>
            <a:r>
              <a:rPr sz="1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50" dirty="0">
                <a:solidFill>
                  <a:srgbClr val="FFFFFF"/>
                </a:solidFill>
                <a:latin typeface="Verdana"/>
                <a:cs typeface="Verdana"/>
              </a:rPr>
              <a:t>kb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25" dirty="0"/>
              <a:t>Metodologia </a:t>
            </a:r>
            <a:r>
              <a:rPr spc="-305" dirty="0"/>
              <a:t>- </a:t>
            </a:r>
            <a:r>
              <a:rPr spc="-105" dirty="0"/>
              <a:t>Domínio </a:t>
            </a:r>
            <a:r>
              <a:rPr spc="-125" dirty="0"/>
              <a:t>da </a:t>
            </a:r>
            <a:r>
              <a:rPr spc="-135" dirty="0"/>
              <a:t>Frequência </a:t>
            </a:r>
            <a:r>
              <a:rPr spc="-305" dirty="0"/>
              <a:t>-</a:t>
            </a:r>
            <a:r>
              <a:rPr spc="-565" dirty="0"/>
              <a:t> </a:t>
            </a:r>
            <a:r>
              <a:rPr spc="-105" dirty="0"/>
              <a:t>Método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45" y="818913"/>
            <a:ext cx="5053965" cy="525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50" b="1" spc="-140" dirty="0">
                <a:solidFill>
                  <a:srgbClr val="FFFFFF"/>
                </a:solidFill>
                <a:latin typeface="Verdana"/>
                <a:cs typeface="Verdana"/>
              </a:rPr>
              <a:t>Fisicamente</a:t>
            </a:r>
            <a:r>
              <a:rPr sz="3250" b="1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b="1" spc="-245" dirty="0">
                <a:solidFill>
                  <a:srgbClr val="FFFFFF"/>
                </a:solidFill>
                <a:latin typeface="Verdana"/>
                <a:cs typeface="Verdana"/>
              </a:rPr>
              <a:t>Informado:</a:t>
            </a:r>
            <a:endParaRPr sz="32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4931" y="2391472"/>
            <a:ext cx="5638165" cy="525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50" spc="30" dirty="0">
                <a:solidFill>
                  <a:srgbClr val="FFFFFF"/>
                </a:solidFill>
                <a:latin typeface="Verdana"/>
                <a:cs typeface="Verdana"/>
              </a:rPr>
              <a:t>Amostra</a:t>
            </a:r>
            <a:r>
              <a:rPr sz="32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spc="85" dirty="0">
                <a:solidFill>
                  <a:srgbClr val="FFFFFF"/>
                </a:solidFill>
                <a:latin typeface="Verdana"/>
                <a:cs typeface="Verdana"/>
              </a:rPr>
              <a:t>Piano</a:t>
            </a:r>
            <a:r>
              <a:rPr sz="32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spc="-22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32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FFFFFF"/>
                </a:solidFill>
                <a:latin typeface="Verdana"/>
                <a:cs typeface="Verdana"/>
              </a:rPr>
              <a:t>tecla</a:t>
            </a:r>
            <a:r>
              <a:rPr sz="325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spc="-409" dirty="0">
                <a:solidFill>
                  <a:srgbClr val="FFFFFF"/>
                </a:solidFill>
                <a:latin typeface="Verdana"/>
                <a:cs typeface="Verdana"/>
              </a:rPr>
              <a:t>01</a:t>
            </a:r>
            <a:r>
              <a:rPr sz="32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spc="80" dirty="0">
                <a:solidFill>
                  <a:srgbClr val="FFFFFF"/>
                </a:solidFill>
                <a:latin typeface="Verdana"/>
                <a:cs typeface="Verdana"/>
              </a:rPr>
              <a:t>A0</a:t>
            </a:r>
            <a:endParaRPr sz="32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8174" y="4040277"/>
            <a:ext cx="5731510" cy="525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50" spc="30" dirty="0">
                <a:solidFill>
                  <a:srgbClr val="FFFFFF"/>
                </a:solidFill>
                <a:latin typeface="Verdana"/>
                <a:cs typeface="Verdana"/>
              </a:rPr>
              <a:t>Amostra</a:t>
            </a:r>
            <a:r>
              <a:rPr sz="32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spc="85" dirty="0">
                <a:solidFill>
                  <a:srgbClr val="FFFFFF"/>
                </a:solidFill>
                <a:latin typeface="Verdana"/>
                <a:cs typeface="Verdana"/>
              </a:rPr>
              <a:t>Piano</a:t>
            </a:r>
            <a:r>
              <a:rPr sz="32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spc="-22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32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FFFFFF"/>
                </a:solidFill>
                <a:latin typeface="Verdana"/>
                <a:cs typeface="Verdana"/>
              </a:rPr>
              <a:t>tecla</a:t>
            </a:r>
            <a:r>
              <a:rPr sz="32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spc="-20" dirty="0">
                <a:solidFill>
                  <a:srgbClr val="FFFFFF"/>
                </a:solidFill>
                <a:latin typeface="Verdana"/>
                <a:cs typeface="Verdana"/>
              </a:rPr>
              <a:t>49</a:t>
            </a:r>
            <a:r>
              <a:rPr sz="32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spc="60" dirty="0">
                <a:solidFill>
                  <a:srgbClr val="FFFFFF"/>
                </a:solidFill>
                <a:latin typeface="Verdana"/>
                <a:cs typeface="Verdana"/>
              </a:rPr>
              <a:t>A4</a:t>
            </a:r>
            <a:endParaRPr sz="3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6687" y="5679552"/>
            <a:ext cx="5734685" cy="525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50" spc="30" dirty="0">
                <a:solidFill>
                  <a:srgbClr val="FFFFFF"/>
                </a:solidFill>
                <a:latin typeface="Verdana"/>
                <a:cs typeface="Verdana"/>
              </a:rPr>
              <a:t>Amostra</a:t>
            </a:r>
            <a:r>
              <a:rPr sz="32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spc="85" dirty="0">
                <a:solidFill>
                  <a:srgbClr val="FFFFFF"/>
                </a:solidFill>
                <a:latin typeface="Verdana"/>
                <a:cs typeface="Verdana"/>
              </a:rPr>
              <a:t>Piano</a:t>
            </a:r>
            <a:r>
              <a:rPr sz="32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spc="-22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32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FFFFFF"/>
                </a:solidFill>
                <a:latin typeface="Verdana"/>
                <a:cs typeface="Verdana"/>
              </a:rPr>
              <a:t>tecla</a:t>
            </a:r>
            <a:r>
              <a:rPr sz="32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spc="5" dirty="0">
                <a:solidFill>
                  <a:srgbClr val="FFFFFF"/>
                </a:solidFill>
                <a:latin typeface="Verdana"/>
                <a:cs typeface="Verdana"/>
              </a:rPr>
              <a:t>88</a:t>
            </a:r>
            <a:r>
              <a:rPr sz="325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50" spc="20" dirty="0">
                <a:solidFill>
                  <a:srgbClr val="FFFFFF"/>
                </a:solidFill>
                <a:latin typeface="Verdana"/>
                <a:cs typeface="Verdana"/>
              </a:rPr>
              <a:t>C8</a:t>
            </a:r>
            <a:endParaRPr sz="32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17103" y="1706054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7099" y="1705978"/>
            <a:ext cx="304981" cy="3049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17103" y="1769596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0:10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89942" y="1705978"/>
            <a:ext cx="304981" cy="30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36884" y="1849014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66483" y="1849014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36884" y="1849014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66483" y="1849014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79695" y="1801287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47561" y="1801287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17103" y="3345329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17099" y="3345256"/>
            <a:ext cx="304981" cy="3049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917103" y="3408871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0:10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89942" y="3345256"/>
            <a:ext cx="304981" cy="3049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36884" y="3488289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66483" y="3488289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36884" y="3488289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66483" y="3488289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79695" y="3440552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547561" y="3440552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917103" y="4994133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17099" y="4994068"/>
            <a:ext cx="304981" cy="3049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917103" y="5057676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0:10</a:t>
            </a:r>
            <a:endParaRPr sz="9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889942" y="4994068"/>
            <a:ext cx="304981" cy="3049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36884" y="5137093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66483" y="5137093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936884" y="5137093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366483" y="5137093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879695" y="5089368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547561" y="5089368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949" y="280885"/>
            <a:ext cx="9819005" cy="4616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50" spc="-120" dirty="0"/>
              <a:t>Metodologia </a:t>
            </a:r>
            <a:r>
              <a:rPr sz="2850" spc="-275" dirty="0"/>
              <a:t>- </a:t>
            </a:r>
            <a:r>
              <a:rPr sz="2850" spc="-105" dirty="0"/>
              <a:t>Domínio </a:t>
            </a:r>
            <a:r>
              <a:rPr sz="2850" spc="-120" dirty="0"/>
              <a:t>da </a:t>
            </a:r>
            <a:r>
              <a:rPr sz="2850" spc="-125" dirty="0"/>
              <a:t>Frequência </a:t>
            </a:r>
            <a:r>
              <a:rPr sz="2850" spc="-275" dirty="0"/>
              <a:t>- </a:t>
            </a:r>
            <a:r>
              <a:rPr sz="2850" spc="-105" dirty="0"/>
              <a:t>Modelo</a:t>
            </a:r>
            <a:r>
              <a:rPr sz="2850" spc="-405" dirty="0"/>
              <a:t> </a:t>
            </a:r>
            <a:r>
              <a:rPr sz="2850" spc="-200" dirty="0"/>
              <a:t>Final:</a:t>
            </a:r>
            <a:endParaRPr sz="2850"/>
          </a:p>
        </p:txBody>
      </p:sp>
      <p:sp>
        <p:nvSpPr>
          <p:cNvPr id="3" name="object 3"/>
          <p:cNvSpPr/>
          <p:nvPr/>
        </p:nvSpPr>
        <p:spPr>
          <a:xfrm>
            <a:off x="581370" y="1114559"/>
            <a:ext cx="9530664" cy="47944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75714" y="6247080"/>
            <a:ext cx="2269490" cy="4616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50" spc="90" dirty="0">
                <a:solidFill>
                  <a:srgbClr val="FFFFFF"/>
                </a:solidFill>
                <a:latin typeface="Verdana"/>
                <a:cs typeface="Verdana"/>
              </a:rPr>
              <a:t>Modelo</a:t>
            </a:r>
            <a:r>
              <a:rPr sz="285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40" dirty="0">
                <a:solidFill>
                  <a:srgbClr val="FFFFFF"/>
                </a:solidFill>
                <a:latin typeface="Verdana"/>
                <a:cs typeface="Verdana"/>
              </a:rPr>
              <a:t>ﬁnal</a:t>
            </a:r>
            <a:endParaRPr sz="2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7496" y="273173"/>
            <a:ext cx="953135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05" dirty="0"/>
              <a:t>Metodologia </a:t>
            </a:r>
            <a:r>
              <a:rPr sz="2750" spc="-260" dirty="0"/>
              <a:t>- </a:t>
            </a:r>
            <a:r>
              <a:rPr sz="2750" spc="-90" dirty="0"/>
              <a:t>Domínio </a:t>
            </a:r>
            <a:r>
              <a:rPr sz="2750" spc="-105" dirty="0"/>
              <a:t>da </a:t>
            </a:r>
            <a:r>
              <a:rPr sz="2750" spc="-114" dirty="0"/>
              <a:t>Frequência </a:t>
            </a:r>
            <a:r>
              <a:rPr sz="2750" spc="-260" dirty="0"/>
              <a:t>- </a:t>
            </a:r>
            <a:r>
              <a:rPr sz="2750" spc="-90" dirty="0"/>
              <a:t>Modelo</a:t>
            </a:r>
            <a:r>
              <a:rPr sz="2750" spc="-415" dirty="0"/>
              <a:t> </a:t>
            </a:r>
            <a:r>
              <a:rPr sz="2750" spc="-185" dirty="0"/>
              <a:t>Final: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2985589" y="1645589"/>
            <a:ext cx="542798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25" dirty="0">
                <a:solidFill>
                  <a:srgbClr val="FFFFFF"/>
                </a:solidFill>
                <a:latin typeface="Verdana"/>
                <a:cs typeface="Verdana"/>
              </a:rPr>
              <a:t>Amostra </a:t>
            </a:r>
            <a:r>
              <a:rPr sz="2750" spc="55" dirty="0">
                <a:solidFill>
                  <a:srgbClr val="FFFFFF"/>
                </a:solidFill>
                <a:latin typeface="Verdana"/>
                <a:cs typeface="Verdana"/>
              </a:rPr>
              <a:t>Hibrido </a:t>
            </a:r>
            <a:r>
              <a:rPr sz="2750" spc="-195" dirty="0">
                <a:solidFill>
                  <a:srgbClr val="FFFFFF"/>
                </a:solidFill>
                <a:latin typeface="Verdana"/>
                <a:cs typeface="Verdana"/>
              </a:rPr>
              <a:t>- </a:t>
            </a:r>
            <a:r>
              <a:rPr sz="2750" spc="30" dirty="0">
                <a:solidFill>
                  <a:srgbClr val="FFFFFF"/>
                </a:solidFill>
                <a:latin typeface="Verdana"/>
                <a:cs typeface="Verdana"/>
              </a:rPr>
              <a:t>posição</a:t>
            </a:r>
            <a:r>
              <a:rPr sz="2750" spc="-7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484" dirty="0">
                <a:solidFill>
                  <a:srgbClr val="FFFFFF"/>
                </a:solidFill>
                <a:latin typeface="Verdana"/>
                <a:cs typeface="Verdana"/>
              </a:rPr>
              <a:t>13 </a:t>
            </a:r>
            <a:r>
              <a:rPr sz="2750" spc="-405" dirty="0">
                <a:solidFill>
                  <a:srgbClr val="FFFFFF"/>
                </a:solidFill>
                <a:latin typeface="Verdana"/>
                <a:cs typeface="Verdana"/>
              </a:rPr>
              <a:t>A1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08743" y="3084720"/>
            <a:ext cx="558228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25" dirty="0">
                <a:solidFill>
                  <a:srgbClr val="FFFFFF"/>
                </a:solidFill>
                <a:latin typeface="Verdana"/>
                <a:cs typeface="Verdana"/>
              </a:rPr>
              <a:t>Amostra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55" dirty="0">
                <a:solidFill>
                  <a:srgbClr val="FFFFFF"/>
                </a:solidFill>
                <a:latin typeface="Verdana"/>
                <a:cs typeface="Verdana"/>
              </a:rPr>
              <a:t>Hibrido</a:t>
            </a:r>
            <a:r>
              <a:rPr sz="275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9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FFFFFF"/>
                </a:solidFill>
                <a:latin typeface="Verdana"/>
                <a:cs typeface="Verdana"/>
              </a:rPr>
              <a:t>posição</a:t>
            </a:r>
            <a:r>
              <a:rPr sz="275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385" dirty="0">
                <a:solidFill>
                  <a:srgbClr val="FFFFFF"/>
                </a:solidFill>
                <a:latin typeface="Verdana"/>
                <a:cs typeface="Verdana"/>
              </a:rPr>
              <a:t>18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FFFFFF"/>
                </a:solidFill>
                <a:latin typeface="Verdana"/>
                <a:cs typeface="Verdana"/>
              </a:rPr>
              <a:t>D2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8565" y="4533381"/>
            <a:ext cx="568198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25" dirty="0">
                <a:solidFill>
                  <a:srgbClr val="FFFFFF"/>
                </a:solidFill>
                <a:latin typeface="Verdana"/>
                <a:cs typeface="Verdana"/>
              </a:rPr>
              <a:t>Amostra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55" dirty="0">
                <a:solidFill>
                  <a:srgbClr val="FFFFFF"/>
                </a:solidFill>
                <a:latin typeface="Verdana"/>
                <a:cs typeface="Verdana"/>
              </a:rPr>
              <a:t>Hibrido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9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75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FFFFFF"/>
                </a:solidFill>
                <a:latin typeface="Verdana"/>
                <a:cs typeface="Verdana"/>
              </a:rPr>
              <a:t>posição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70" dirty="0">
                <a:solidFill>
                  <a:srgbClr val="FFFFFF"/>
                </a:solidFill>
                <a:latin typeface="Verdana"/>
                <a:cs typeface="Verdana"/>
              </a:rPr>
              <a:t>40</a:t>
            </a:r>
            <a:r>
              <a:rPr sz="275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20" dirty="0">
                <a:solidFill>
                  <a:srgbClr val="FFFFFF"/>
                </a:solidFill>
                <a:latin typeface="Verdana"/>
                <a:cs typeface="Verdana"/>
              </a:rPr>
              <a:t>C4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7495" y="5972511"/>
            <a:ext cx="566483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25" dirty="0">
                <a:solidFill>
                  <a:srgbClr val="FFFFFF"/>
                </a:solidFill>
                <a:latin typeface="Verdana"/>
                <a:cs typeface="Verdana"/>
              </a:rPr>
              <a:t>Amostra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55" dirty="0">
                <a:solidFill>
                  <a:srgbClr val="FFFFFF"/>
                </a:solidFill>
                <a:latin typeface="Verdana"/>
                <a:cs typeface="Verdana"/>
              </a:rPr>
              <a:t>Hibrido</a:t>
            </a:r>
            <a:r>
              <a:rPr sz="275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9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FFFFFF"/>
                </a:solidFill>
                <a:latin typeface="Verdana"/>
                <a:cs typeface="Verdana"/>
              </a:rPr>
              <a:t>posição</a:t>
            </a:r>
            <a:r>
              <a:rPr sz="275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5" dirty="0">
                <a:solidFill>
                  <a:srgbClr val="FFFFFF"/>
                </a:solidFill>
                <a:latin typeface="Verdana"/>
                <a:cs typeface="Verdana"/>
              </a:rPr>
              <a:t>88</a:t>
            </a:r>
            <a:r>
              <a:rPr sz="275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15" dirty="0">
                <a:solidFill>
                  <a:srgbClr val="FFFFFF"/>
                </a:solidFill>
                <a:latin typeface="Verdana"/>
                <a:cs typeface="Verdana"/>
              </a:rPr>
              <a:t>C8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17103" y="1010398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4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7099" y="1010258"/>
            <a:ext cx="304981" cy="3049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17103" y="1073940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0:02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89942" y="1010258"/>
            <a:ext cx="304981" cy="3049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36884" y="1153358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4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66483" y="1153358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4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36884" y="1153358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4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66483" y="1153358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4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79695" y="1105557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47561" y="1105557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17103" y="2449528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17099" y="2449385"/>
            <a:ext cx="304981" cy="3049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917103" y="2513070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0:02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89942" y="2449385"/>
            <a:ext cx="304981" cy="3049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36884" y="2592488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66483" y="2592488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36884" y="2592488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66483" y="2592488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79695" y="2544681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547561" y="2544681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917103" y="3898189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17099" y="3898049"/>
            <a:ext cx="304981" cy="3049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917103" y="3961731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0:02</a:t>
            </a:r>
            <a:endParaRPr sz="9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889942" y="3898049"/>
            <a:ext cx="304981" cy="30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36884" y="4041149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66483" y="4041149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936884" y="4041149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366483" y="4041149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879695" y="3993358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547561" y="3993358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917103" y="5337320"/>
            <a:ext cx="2859405" cy="305435"/>
          </a:xfrm>
          <a:custGeom>
            <a:avLst/>
            <a:gdLst/>
            <a:ahLst/>
            <a:cxnLst/>
            <a:rect l="l" t="t" r="r" b="b"/>
            <a:pathLst>
              <a:path w="2859404" h="305435">
                <a:moveTo>
                  <a:pt x="0" y="0"/>
                </a:moveTo>
                <a:lnTo>
                  <a:pt x="2859199" y="0"/>
                </a:lnTo>
                <a:lnTo>
                  <a:pt x="2859199" y="304981"/>
                </a:lnTo>
                <a:lnTo>
                  <a:pt x="0" y="304981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917099" y="5337175"/>
            <a:ext cx="304981" cy="3049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917103" y="5400862"/>
            <a:ext cx="28594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0:00 /</a:t>
            </a:r>
            <a:r>
              <a:rPr sz="900" spc="45" dirty="0">
                <a:solidFill>
                  <a:srgbClr val="5A5A5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5A5A5A"/>
                </a:solidFill>
                <a:latin typeface="Arial"/>
                <a:cs typeface="Arial"/>
              </a:rPr>
              <a:t>0:02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889942" y="5337175"/>
            <a:ext cx="304981" cy="30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36884" y="5480280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366483" y="5480280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936884" y="5480280"/>
            <a:ext cx="781685" cy="19685"/>
          </a:xfrm>
          <a:custGeom>
            <a:avLst/>
            <a:gdLst/>
            <a:ahLst/>
            <a:cxnLst/>
            <a:rect l="l" t="t" r="r" b="b"/>
            <a:pathLst>
              <a:path w="781685" h="19685">
                <a:moveTo>
                  <a:pt x="0" y="19061"/>
                </a:moveTo>
                <a:lnTo>
                  <a:pt x="781514" y="19061"/>
                </a:lnTo>
                <a:lnTo>
                  <a:pt x="781514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366483" y="5480280"/>
            <a:ext cx="238760" cy="19685"/>
          </a:xfrm>
          <a:custGeom>
            <a:avLst/>
            <a:gdLst/>
            <a:ahLst/>
            <a:cxnLst/>
            <a:rect l="l" t="t" r="r" b="b"/>
            <a:pathLst>
              <a:path w="238759" h="19685">
                <a:moveTo>
                  <a:pt x="0" y="19061"/>
                </a:moveTo>
                <a:lnTo>
                  <a:pt x="238266" y="19061"/>
                </a:lnTo>
                <a:lnTo>
                  <a:pt x="238266" y="0"/>
                </a:lnTo>
                <a:lnTo>
                  <a:pt x="0" y="0"/>
                </a:lnTo>
                <a:lnTo>
                  <a:pt x="0" y="19061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879695" y="5432471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47561" y="5432471"/>
            <a:ext cx="114367" cy="114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45" y="272580"/>
            <a:ext cx="10429875" cy="5938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25"/>
              </a:spcBef>
            </a:pPr>
            <a:r>
              <a:rPr sz="2750" b="1" spc="-140" dirty="0">
                <a:solidFill>
                  <a:srgbClr val="FFFFFF"/>
                </a:solidFill>
                <a:latin typeface="Verdana"/>
                <a:cs typeface="Verdana"/>
              </a:rPr>
              <a:t>Resultados </a:t>
            </a:r>
            <a:r>
              <a:rPr sz="2750" b="1" spc="-260" dirty="0">
                <a:solidFill>
                  <a:srgbClr val="FFFFFF"/>
                </a:solidFill>
                <a:latin typeface="Verdana"/>
                <a:cs typeface="Verdana"/>
              </a:rPr>
              <a:t>- </a:t>
            </a:r>
            <a:r>
              <a:rPr sz="2750" b="1" spc="-90" dirty="0">
                <a:solidFill>
                  <a:srgbClr val="FFFFFF"/>
                </a:solidFill>
                <a:latin typeface="Verdana"/>
                <a:cs typeface="Verdana"/>
              </a:rPr>
              <a:t>Domínio </a:t>
            </a:r>
            <a:r>
              <a:rPr sz="2750" b="1" spc="-105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2750" b="1" spc="-2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b="1" spc="-145" dirty="0">
                <a:solidFill>
                  <a:srgbClr val="FFFFFF"/>
                </a:solidFill>
                <a:latin typeface="Verdana"/>
                <a:cs typeface="Verdana"/>
              </a:rPr>
              <a:t>Frequência:</a:t>
            </a:r>
            <a:endParaRPr sz="2750">
              <a:latin typeface="Verdana"/>
              <a:cs typeface="Verdana"/>
            </a:endParaRPr>
          </a:p>
          <a:p>
            <a:pPr marL="365125">
              <a:lnSpc>
                <a:spcPct val="100000"/>
              </a:lnSpc>
              <a:spcBef>
                <a:spcPts val="2330"/>
              </a:spcBef>
            </a:pPr>
            <a:r>
              <a:rPr sz="2750" b="1" spc="-85" dirty="0">
                <a:solidFill>
                  <a:srgbClr val="FFFFFF"/>
                </a:solidFill>
                <a:latin typeface="Verdana"/>
                <a:cs typeface="Verdana"/>
              </a:rPr>
              <a:t>Método</a:t>
            </a:r>
            <a:r>
              <a:rPr sz="2750" b="1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b="1" spc="-185" dirty="0">
                <a:solidFill>
                  <a:srgbClr val="FFFFFF"/>
                </a:solidFill>
                <a:latin typeface="Verdana"/>
                <a:cs typeface="Verdana"/>
              </a:rPr>
              <a:t>Direto:</a:t>
            </a:r>
            <a:endParaRPr sz="2750">
              <a:latin typeface="Verdana"/>
              <a:cs typeface="Verdana"/>
            </a:endParaRPr>
          </a:p>
          <a:p>
            <a:pPr marL="365125" marR="902969" indent="352425">
              <a:lnSpc>
                <a:spcPct val="186500"/>
              </a:lnSpc>
            </a:pPr>
            <a:r>
              <a:rPr sz="2750" spc="60" dirty="0">
                <a:solidFill>
                  <a:srgbClr val="FFFFFF"/>
                </a:solidFill>
                <a:latin typeface="Verdana"/>
                <a:cs typeface="Verdana"/>
              </a:rPr>
              <a:t>Funcional</a:t>
            </a:r>
            <a:r>
              <a:rPr sz="27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5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75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Verdana"/>
                <a:cs typeface="Verdana"/>
              </a:rPr>
              <a:t>sons</a:t>
            </a:r>
            <a:r>
              <a:rPr sz="27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70" dirty="0">
                <a:solidFill>
                  <a:srgbClr val="FFFFFF"/>
                </a:solidFill>
                <a:latin typeface="Verdana"/>
                <a:cs typeface="Verdana"/>
              </a:rPr>
              <a:t>mal</a:t>
            </a:r>
            <a:r>
              <a:rPr sz="275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60" dirty="0">
                <a:solidFill>
                  <a:srgbClr val="FFFFFF"/>
                </a:solidFill>
                <a:latin typeface="Verdana"/>
                <a:cs typeface="Verdana"/>
              </a:rPr>
              <a:t>comportados</a:t>
            </a:r>
            <a:r>
              <a:rPr sz="27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60" dirty="0">
                <a:solidFill>
                  <a:srgbClr val="FFFFFF"/>
                </a:solidFill>
                <a:latin typeface="Verdana"/>
                <a:cs typeface="Verdana"/>
              </a:rPr>
              <a:t>(percussão)  </a:t>
            </a:r>
            <a:r>
              <a:rPr sz="2750" b="1" spc="-85" dirty="0">
                <a:solidFill>
                  <a:srgbClr val="FFFFFF"/>
                </a:solidFill>
                <a:latin typeface="Verdana"/>
                <a:cs typeface="Verdana"/>
              </a:rPr>
              <a:t>Método </a:t>
            </a:r>
            <a:r>
              <a:rPr sz="2750" b="1" spc="-120" dirty="0">
                <a:solidFill>
                  <a:srgbClr val="FFFFFF"/>
                </a:solidFill>
                <a:latin typeface="Verdana"/>
                <a:cs typeface="Verdana"/>
              </a:rPr>
              <a:t>Fisicamente</a:t>
            </a:r>
            <a:r>
              <a:rPr sz="2750" b="1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b="1" spc="-160" dirty="0">
                <a:solidFill>
                  <a:srgbClr val="FFFFFF"/>
                </a:solidFill>
                <a:latin typeface="Verdana"/>
                <a:cs typeface="Verdana"/>
              </a:rPr>
              <a:t>informado:</a:t>
            </a:r>
            <a:endParaRPr sz="2750">
              <a:latin typeface="Verdana"/>
              <a:cs typeface="Verdana"/>
            </a:endParaRPr>
          </a:p>
          <a:p>
            <a:pPr marL="718185">
              <a:lnSpc>
                <a:spcPct val="100000"/>
              </a:lnSpc>
              <a:spcBef>
                <a:spcPts val="2855"/>
              </a:spcBef>
            </a:pPr>
            <a:r>
              <a:rPr sz="2750" spc="-55" dirty="0">
                <a:solidFill>
                  <a:srgbClr val="FFFFFF"/>
                </a:solidFill>
                <a:latin typeface="Verdana"/>
                <a:cs typeface="Verdana"/>
              </a:rPr>
              <a:t>Ideal </a:t>
            </a:r>
            <a:r>
              <a:rPr sz="2750" spc="-5" dirty="0">
                <a:solidFill>
                  <a:srgbClr val="FFFFFF"/>
                </a:solidFill>
                <a:latin typeface="Verdana"/>
                <a:cs typeface="Verdana"/>
              </a:rPr>
              <a:t>para </a:t>
            </a:r>
            <a:r>
              <a:rPr sz="2750" spc="30" dirty="0">
                <a:solidFill>
                  <a:srgbClr val="FFFFFF"/>
                </a:solidFill>
                <a:latin typeface="Verdana"/>
                <a:cs typeface="Verdana"/>
              </a:rPr>
              <a:t>instrumentos</a:t>
            </a:r>
            <a:r>
              <a:rPr sz="2750" spc="-7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45" dirty="0">
                <a:solidFill>
                  <a:srgbClr val="FFFFFF"/>
                </a:solidFill>
                <a:latin typeface="Verdana"/>
                <a:cs typeface="Verdana"/>
              </a:rPr>
              <a:t>harmônicos</a:t>
            </a:r>
            <a:endParaRPr sz="2750">
              <a:latin typeface="Verdana"/>
              <a:cs typeface="Verdana"/>
            </a:endParaRPr>
          </a:p>
          <a:p>
            <a:pPr marL="12700" marR="1451610" indent="705485">
              <a:lnSpc>
                <a:spcPct val="102299"/>
              </a:lnSpc>
              <a:spcBef>
                <a:spcPts val="2850"/>
              </a:spcBef>
            </a:pPr>
            <a:r>
              <a:rPr sz="2750" spc="50" dirty="0">
                <a:solidFill>
                  <a:srgbClr val="FFFFFF"/>
                </a:solidFill>
                <a:latin typeface="Verdana"/>
                <a:cs typeface="Verdana"/>
              </a:rPr>
              <a:t>Eﬁciência</a:t>
            </a:r>
            <a:r>
              <a:rPr sz="275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305" dirty="0">
                <a:solidFill>
                  <a:srgbClr val="FFFFFF"/>
                </a:solidFill>
                <a:latin typeface="Verdana"/>
                <a:cs typeface="Verdana"/>
              </a:rPr>
              <a:t>10x</a:t>
            </a:r>
            <a:r>
              <a:rPr sz="275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35" dirty="0">
                <a:solidFill>
                  <a:srgbClr val="FFFFFF"/>
                </a:solidFill>
                <a:latin typeface="Verdana"/>
                <a:cs typeface="Verdana"/>
              </a:rPr>
              <a:t>maior</a:t>
            </a:r>
            <a:r>
              <a:rPr sz="27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105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275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10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7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35" dirty="0">
                <a:solidFill>
                  <a:srgbClr val="FFFFFF"/>
                </a:solidFill>
                <a:latin typeface="Verdana"/>
                <a:cs typeface="Verdana"/>
              </a:rPr>
              <a:t>Digital</a:t>
            </a:r>
            <a:r>
              <a:rPr sz="275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25" dirty="0">
                <a:solidFill>
                  <a:srgbClr val="FFFFFF"/>
                </a:solidFill>
                <a:latin typeface="Verdana"/>
                <a:cs typeface="Verdana"/>
              </a:rPr>
              <a:t>Waveguides  </a:t>
            </a:r>
            <a:r>
              <a:rPr sz="2750" spc="40" dirty="0">
                <a:solidFill>
                  <a:srgbClr val="FFFFFF"/>
                </a:solidFill>
                <a:latin typeface="Verdana"/>
                <a:cs typeface="Verdana"/>
              </a:rPr>
              <a:t>(implementação </a:t>
            </a:r>
            <a:r>
              <a:rPr sz="2750" spc="150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2750" spc="-5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20" dirty="0">
                <a:solidFill>
                  <a:srgbClr val="FFFFFF"/>
                </a:solidFill>
                <a:latin typeface="Verdana"/>
                <a:cs typeface="Verdana"/>
              </a:rPr>
              <a:t>Python)</a:t>
            </a:r>
            <a:endParaRPr sz="2750">
              <a:latin typeface="Verdana"/>
              <a:cs typeface="Verdana"/>
            </a:endParaRPr>
          </a:p>
          <a:p>
            <a:pPr marL="12700" marR="5080" indent="705485">
              <a:lnSpc>
                <a:spcPct val="102299"/>
              </a:lnSpc>
              <a:spcBef>
                <a:spcPts val="2780"/>
              </a:spcBef>
            </a:pPr>
            <a:r>
              <a:rPr sz="2750" spc="5" dirty="0">
                <a:solidFill>
                  <a:srgbClr val="FFFFFF"/>
                </a:solidFill>
                <a:latin typeface="Verdana"/>
                <a:cs typeface="Verdana"/>
              </a:rPr>
              <a:t>Verossimilhança</a:t>
            </a:r>
            <a:r>
              <a:rPr sz="275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35" dirty="0">
                <a:solidFill>
                  <a:srgbClr val="FFFFFF"/>
                </a:solidFill>
                <a:latin typeface="Verdana"/>
                <a:cs typeface="Verdana"/>
              </a:rPr>
              <a:t>maior</a:t>
            </a:r>
            <a:r>
              <a:rPr sz="27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105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27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10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7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5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7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85" dirty="0">
                <a:solidFill>
                  <a:srgbClr val="FFFFFF"/>
                </a:solidFill>
                <a:latin typeface="Verdana"/>
                <a:cs typeface="Verdana"/>
              </a:rPr>
              <a:t>método</a:t>
            </a:r>
            <a:r>
              <a:rPr sz="27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5" dirty="0">
                <a:solidFill>
                  <a:srgbClr val="FFFFFF"/>
                </a:solidFill>
                <a:latin typeface="Verdana"/>
                <a:cs typeface="Verdana"/>
              </a:rPr>
              <a:t>das</a:t>
            </a:r>
            <a:r>
              <a:rPr sz="27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5" dirty="0">
                <a:solidFill>
                  <a:srgbClr val="FFFFFF"/>
                </a:solidFill>
                <a:latin typeface="Verdana"/>
                <a:cs typeface="Verdana"/>
              </a:rPr>
              <a:t>diferenças  </a:t>
            </a:r>
            <a:r>
              <a:rPr sz="2750" spc="20" dirty="0">
                <a:solidFill>
                  <a:srgbClr val="FFFFFF"/>
                </a:solidFill>
                <a:latin typeface="Verdana"/>
                <a:cs typeface="Verdana"/>
              </a:rPr>
              <a:t>ﬁnitas</a:t>
            </a:r>
            <a:endParaRPr sz="2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3545" y="156124"/>
            <a:ext cx="9907905" cy="589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100"/>
              </a:spcBef>
            </a:pPr>
            <a:r>
              <a:rPr sz="1600" b="1" spc="-80" dirty="0">
                <a:solidFill>
                  <a:srgbClr val="FFFFFF"/>
                </a:solidFill>
                <a:latin typeface="Verdana"/>
                <a:cs typeface="Verdana"/>
              </a:rPr>
              <a:t>Conclusão</a:t>
            </a:r>
            <a:endParaRPr sz="1600" dirty="0">
              <a:latin typeface="Verdana"/>
              <a:cs typeface="Verdana"/>
            </a:endParaRPr>
          </a:p>
          <a:p>
            <a:pPr marL="215265">
              <a:lnSpc>
                <a:spcPct val="100000"/>
              </a:lnSpc>
              <a:spcBef>
                <a:spcPts val="1305"/>
              </a:spcBef>
            </a:pPr>
            <a:r>
              <a:rPr sz="1600" b="1" spc="-95" dirty="0">
                <a:solidFill>
                  <a:srgbClr val="FFFFFF"/>
                </a:solidFill>
                <a:latin typeface="Verdana"/>
                <a:cs typeface="Verdana"/>
              </a:rPr>
              <a:t>Contribuições:</a:t>
            </a:r>
            <a:endParaRPr sz="1600" dirty="0">
              <a:latin typeface="Verdana"/>
              <a:cs typeface="Verdana"/>
            </a:endParaRPr>
          </a:p>
          <a:p>
            <a:pPr marL="418465">
              <a:lnSpc>
                <a:spcPct val="100000"/>
              </a:lnSpc>
              <a:spcBef>
                <a:spcPts val="1680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Apresenta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FFFFFF"/>
                </a:solidFill>
                <a:latin typeface="Verdana"/>
                <a:cs typeface="Verdana"/>
              </a:rPr>
              <a:t>um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modelo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Verdana"/>
                <a:cs typeface="Verdana"/>
              </a:rPr>
              <a:t>eﬁciente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5" dirty="0">
                <a:solidFill>
                  <a:srgbClr val="FFFFFF"/>
                </a:solidFill>
                <a:latin typeface="Verdana"/>
                <a:cs typeface="Verdana"/>
              </a:rPr>
              <a:t>modelagem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acústica</a:t>
            </a:r>
            <a:endParaRPr sz="1600" dirty="0">
              <a:latin typeface="Verdana"/>
              <a:cs typeface="Verdana"/>
            </a:endParaRPr>
          </a:p>
          <a:p>
            <a:pPr marL="418465">
              <a:lnSpc>
                <a:spcPct val="100000"/>
              </a:lnSpc>
              <a:spcBef>
                <a:spcPts val="1610"/>
              </a:spcBef>
            </a:pPr>
            <a:r>
              <a:rPr sz="1600" spc="30" dirty="0">
                <a:solidFill>
                  <a:srgbClr val="FFFFFF"/>
                </a:solidFill>
                <a:latin typeface="Verdana"/>
                <a:cs typeface="Verdana"/>
              </a:rPr>
              <a:t>Aponta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55" dirty="0">
                <a:solidFill>
                  <a:srgbClr val="FFFFFF"/>
                </a:solidFill>
                <a:latin typeface="Verdana"/>
                <a:cs typeface="Verdana"/>
              </a:rPr>
              <a:t>uma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nova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Verdana"/>
                <a:cs typeface="Verdana"/>
              </a:rPr>
              <a:t>área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pesquisa,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interseção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acústica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redes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neurais</a:t>
            </a:r>
            <a:endParaRPr sz="1600" dirty="0">
              <a:latin typeface="Verdana"/>
              <a:cs typeface="Verdana"/>
            </a:endParaRPr>
          </a:p>
          <a:p>
            <a:pPr marL="418465" marR="64135">
              <a:lnSpc>
                <a:spcPts val="3600"/>
              </a:lnSpc>
              <a:spcBef>
                <a:spcPts val="32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Apresenta </a:t>
            </a:r>
            <a:r>
              <a:rPr sz="1600" spc="15" dirty="0">
                <a:solidFill>
                  <a:srgbClr val="FFFFFF"/>
                </a:solidFill>
                <a:latin typeface="Verdana"/>
                <a:cs typeface="Verdana"/>
              </a:rPr>
              <a:t>alguns </a:t>
            </a: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potenciais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e </a:t>
            </a: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limitações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dessa 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área,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no domínio </a:t>
            </a:r>
            <a:r>
              <a:rPr sz="1600" spc="50" dirty="0">
                <a:solidFill>
                  <a:srgbClr val="FFFFFF"/>
                </a:solidFill>
                <a:latin typeface="Verdana"/>
                <a:cs typeface="Verdana"/>
              </a:rPr>
              <a:t>do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tempo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e </a:t>
            </a:r>
            <a:r>
              <a:rPr sz="1600" spc="25" dirty="0">
                <a:solidFill>
                  <a:srgbClr val="FFFFFF"/>
                </a:solidFill>
                <a:latin typeface="Verdana"/>
                <a:cs typeface="Verdana"/>
              </a:rPr>
              <a:t>da </a:t>
            </a:r>
            <a:r>
              <a:rPr sz="1600" spc="20" dirty="0">
                <a:solidFill>
                  <a:srgbClr val="FFFFFF"/>
                </a:solidFill>
                <a:latin typeface="Verdana"/>
                <a:cs typeface="Verdana"/>
              </a:rPr>
              <a:t>frequência 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Interpretação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Verdana"/>
                <a:cs typeface="Verdana"/>
              </a:rPr>
              <a:t>geométrica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simetria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transformada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discreta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Fourier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Verdana"/>
                <a:cs typeface="Verdana"/>
              </a:rPr>
              <a:t>aplicada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sinais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no</a:t>
            </a:r>
            <a:endParaRPr sz="1600" dirty="0">
              <a:latin typeface="Verdana"/>
              <a:cs typeface="Verdana"/>
            </a:endParaRPr>
          </a:p>
          <a:p>
            <a:pPr marL="12700">
              <a:lnSpc>
                <a:spcPts val="1555"/>
              </a:lnSpc>
            </a:pP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domínio</a:t>
            </a:r>
            <a:r>
              <a:rPr sz="16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real.</a:t>
            </a:r>
            <a:endParaRPr sz="1600" dirty="0">
              <a:latin typeface="Verdana"/>
              <a:cs typeface="Verdana"/>
            </a:endParaRPr>
          </a:p>
          <a:p>
            <a:pPr marL="215265" marR="5080" indent="202565">
              <a:lnSpc>
                <a:spcPct val="183700"/>
              </a:lnSpc>
            </a:pP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Relação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envelopes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(domínio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tempo)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formato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das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elevações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(domínio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frequência)  </a:t>
            </a:r>
            <a:r>
              <a:rPr sz="1600" b="1" spc="-75" dirty="0">
                <a:solidFill>
                  <a:srgbClr val="FFFFFF"/>
                </a:solidFill>
                <a:latin typeface="Verdana"/>
                <a:cs typeface="Verdana"/>
              </a:rPr>
              <a:t>Oportunidades </a:t>
            </a:r>
            <a:r>
              <a:rPr sz="1600" b="1" spc="-6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b="1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b="1" spc="-114" dirty="0">
                <a:solidFill>
                  <a:srgbClr val="FFFFFF"/>
                </a:solidFill>
                <a:latin typeface="Verdana"/>
                <a:cs typeface="Verdana"/>
              </a:rPr>
              <a:t>Pesquisa:</a:t>
            </a:r>
            <a:endParaRPr sz="1600" dirty="0">
              <a:latin typeface="Verdana"/>
              <a:cs typeface="Verdana"/>
            </a:endParaRPr>
          </a:p>
          <a:p>
            <a:pPr marL="418465" marR="1002030">
              <a:lnSpc>
                <a:spcPct val="183700"/>
              </a:lnSpc>
              <a:spcBef>
                <a:spcPts val="7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Desenvolvimento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FFFFFF"/>
                </a:solidFill>
                <a:latin typeface="Verdana"/>
                <a:cs typeface="Verdana"/>
              </a:rPr>
              <a:t>um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método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extração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envelopes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(possivelmente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analítico) 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investigar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transferência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estilo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fazendo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uso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método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Verdana"/>
                <a:cs typeface="Verdana"/>
              </a:rPr>
              <a:t>acima</a:t>
            </a:r>
            <a:endParaRPr sz="1600" dirty="0">
              <a:latin typeface="Verdana"/>
              <a:cs typeface="Verdana"/>
            </a:endParaRPr>
          </a:p>
          <a:p>
            <a:pPr marL="418465">
              <a:lnSpc>
                <a:spcPct val="100000"/>
              </a:lnSpc>
              <a:spcBef>
                <a:spcPts val="1610"/>
              </a:spcBef>
            </a:pP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Utilizar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Diferenças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Finitas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treinar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FFFFFF"/>
                </a:solidFill>
                <a:latin typeface="Verdana"/>
                <a:cs typeface="Verdana"/>
              </a:rPr>
              <a:t>um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Verdana"/>
                <a:cs typeface="Verdana"/>
              </a:rPr>
              <a:t>algoritmo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“Neural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Waveguides”</a:t>
            </a:r>
            <a:endParaRPr sz="1600" dirty="0">
              <a:latin typeface="Verdana"/>
              <a:cs typeface="Verdana"/>
            </a:endParaRPr>
          </a:p>
          <a:p>
            <a:pPr marL="418465" marR="1100455">
              <a:lnSpc>
                <a:spcPct val="183700"/>
              </a:lnSpc>
              <a:spcBef>
                <a:spcPts val="75"/>
              </a:spcBef>
            </a:pP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Utilizar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ANNs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no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Verdana"/>
                <a:cs typeface="Verdana"/>
              </a:rPr>
              <a:t>lugar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Verdana"/>
                <a:cs typeface="Verdana"/>
              </a:rPr>
              <a:t>funções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utilizadas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Verdana"/>
                <a:cs typeface="Verdana"/>
              </a:rPr>
              <a:t>modelos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acústicos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Verdana"/>
                <a:cs typeface="Verdana"/>
              </a:rPr>
              <a:t>mais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elaborados  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Paralelizar 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as</a:t>
            </a:r>
            <a:r>
              <a:rPr sz="1600" spc="-3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redes</a:t>
            </a:r>
            <a:endParaRPr sz="1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804</Words>
  <Application>Microsoft Office PowerPoint</Application>
  <PresentationFormat>Custom</PresentationFormat>
  <Paragraphs>118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Referencial Teórico - DFT - SIMETRIA</vt:lpstr>
      <vt:lpstr>PowerPoint Presentation</vt:lpstr>
      <vt:lpstr>PowerPoint Presentation</vt:lpstr>
      <vt:lpstr>Metodologia - Modelos Tradicionais: Digital Waveguide</vt:lpstr>
      <vt:lpstr>Metodologia - Modelos Tradicionais: Diferenças Finitas</vt:lpstr>
      <vt:lpstr>Metodologia - Domínio do tempo:</vt:lpstr>
      <vt:lpstr>Resultados - Domínio do tempo:</vt:lpstr>
      <vt:lpstr>Resultados - Domínio do tempo:</vt:lpstr>
      <vt:lpstr>PowerPoint Presentation</vt:lpstr>
      <vt:lpstr>Metodologia - Domínio da Frequência - Método Direto: caixa, contratempo,tambores - 120 008 neurons, 1.4 Mb. pratos - 360 008 neurons, 9 Mb.  redes com uma camada oculta</vt:lpstr>
      <vt:lpstr>PowerPoint Presentation</vt:lpstr>
      <vt:lpstr>Metodologia - Domínio da Frequência - Método</vt:lpstr>
      <vt:lpstr>Metodologia - Domínio da Frequência - Modelo Final:</vt:lpstr>
      <vt:lpstr>Metodologia - Domínio da Frequência - Modelo Final: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Carlos Tarjano</cp:lastModifiedBy>
  <cp:revision>1</cp:revision>
  <dcterms:created xsi:type="dcterms:W3CDTF">2018-07-31T01:35:09Z</dcterms:created>
  <dcterms:modified xsi:type="dcterms:W3CDTF">2018-07-31T01:53:51Z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2018-07-31T00:00:00Z</vt:filetime>
  </property>
  <property fmtid="{D5CDD505-2E9C-101B-9397-08002B2CF9AE}" pid="3" name="Creator">
    <vt:lpwstr>Mozilla/5.0 (Windows NT 10.0; Win64; x64) AppleWebKit/537.36 (KHTML, like Gecko) Chrome/66.0.3359.181 Safari/537.36</vt:lpwstr>
  </property>
  <property fmtid="{D5CDD505-2E9C-101B-9397-08002B2CF9AE}" pid="4" name="LastSaved">
    <vt:filetime>2018-07-31T00:00:00Z</vt:filetime>
  </property>
</Properties>
</file>