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5" r:id="rId6"/>
    <p:sldId id="270" r:id="rId7"/>
    <p:sldId id="272" r:id="rId8"/>
    <p:sldId id="271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4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Redes Neurais Aplicadas à Modelagem de Instrumentos Acústicos para Síntese Sonora em Tempo Real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2088232"/>
          </a:xfrm>
        </p:spPr>
        <p:txBody>
          <a:bodyPr>
            <a:noAutofit/>
          </a:bodyPr>
          <a:lstStyle/>
          <a:p>
            <a:r>
              <a:rPr lang="pt-BR" sz="2000" dirty="0">
                <a:latin typeface="Helvetica" pitchFamily="34" charset="0"/>
              </a:rPr>
              <a:t>por</a:t>
            </a:r>
          </a:p>
          <a:p>
            <a:r>
              <a:rPr lang="pt-BR" sz="2000" dirty="0">
                <a:latin typeface="Helvetica" pitchFamily="34" charset="0"/>
              </a:rPr>
              <a:t>Carlos Tarjano</a:t>
            </a:r>
          </a:p>
          <a:p>
            <a:endParaRPr lang="pt-BR" sz="2000" dirty="0">
              <a:latin typeface="Helvetica" pitchFamily="34" charset="0"/>
            </a:endParaRPr>
          </a:p>
          <a:p>
            <a:r>
              <a:rPr lang="pt-BR" sz="1600" dirty="0">
                <a:latin typeface="Helvetica" pitchFamily="34" charset="0"/>
              </a:rPr>
              <a:t>Prof. Dr. </a:t>
            </a:r>
            <a:r>
              <a:rPr lang="pt-BR" sz="1600" dirty="0" err="1">
                <a:latin typeface="Helvetica" pitchFamily="34" charset="0"/>
              </a:rPr>
              <a:t>Valdecy</a:t>
            </a:r>
            <a:r>
              <a:rPr lang="pt-BR" sz="1600" dirty="0">
                <a:latin typeface="Helvetica" pitchFamily="34" charset="0"/>
              </a:rPr>
              <a:t> Pereira, (Prof. Orientador)</a:t>
            </a:r>
          </a:p>
          <a:p>
            <a:endParaRPr lang="pt-BR" sz="1600" dirty="0">
              <a:latin typeface="Helvetica" pitchFamily="34" charset="0"/>
            </a:endParaRPr>
          </a:p>
          <a:p>
            <a:endParaRPr lang="pt-BR" sz="1600" dirty="0">
              <a:latin typeface="Helvetica" pitchFamily="34" charset="0"/>
            </a:endParaRPr>
          </a:p>
          <a:p>
            <a:r>
              <a:rPr lang="pt-BR" sz="1600" dirty="0">
                <a:latin typeface="Helvetica" pitchFamily="34" charset="0"/>
              </a:rPr>
              <a:t>Niterói, 04 de Julho de 2018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-1"/>
          <a:ext cx="1043608" cy="11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Imagem de Bitmap" r:id="rId3" imgW="847843" imgH="942857" progId="Paint.Picture">
                  <p:embed/>
                </p:oleObj>
              </mc:Choice>
              <mc:Fallback>
                <p:oleObj name="Imagem de Bitmap" r:id="rId3" imgW="847843" imgH="942857" progId="Paint.Pictur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1"/>
                        <a:ext cx="1043608" cy="11559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6322" y="-27384"/>
            <a:ext cx="1360152" cy="1224136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187624" y="332656"/>
            <a:ext cx="624029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UNIVERSIDADE FEDERAL FLUMINENSE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ESCOLA DE ENGENHARIA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PROGRAMA DE PÓS-GRADUAÇÃO EM ENGENHARIA DE PRODUÇÃO</a:t>
            </a: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cs typeface="Arial" pitchFamily="34" charset="0"/>
              </a:rPr>
              <a:t> 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Motivação:</a:t>
            </a:r>
          </a:p>
          <a:p>
            <a:pPr lvl="1"/>
            <a:r>
              <a:rPr lang="pt-BR" dirty="0" err="1"/>
              <a:t>ANNs</a:t>
            </a:r>
            <a:r>
              <a:rPr lang="pt-BR" dirty="0"/>
              <a:t> aplicadas com sucesso várias áreas</a:t>
            </a:r>
          </a:p>
          <a:p>
            <a:pPr lvl="1"/>
            <a:r>
              <a:rPr lang="pt-BR" dirty="0"/>
              <a:t>Estado da arte em áreas afins</a:t>
            </a:r>
          </a:p>
          <a:p>
            <a:pPr lvl="1"/>
            <a:r>
              <a:rPr lang="pt-BR" dirty="0"/>
              <a:t>Poucos trabalhos relacionados a síntese sonora (nenhum em tempo real)</a:t>
            </a:r>
          </a:p>
          <a:p>
            <a:r>
              <a:rPr lang="pt-BR" b="1" dirty="0"/>
              <a:t>Objetivo: </a:t>
            </a:r>
            <a:r>
              <a:rPr lang="pt-BR" dirty="0"/>
              <a:t>Elaborar um modelo baseado em </a:t>
            </a:r>
            <a:r>
              <a:rPr lang="pt-BR" dirty="0" err="1"/>
              <a:t>ARNs</a:t>
            </a:r>
            <a:r>
              <a:rPr lang="pt-BR" dirty="0"/>
              <a:t> para emulação de instrumentos em tempo real</a:t>
            </a:r>
          </a:p>
          <a:p>
            <a:pPr lvl="1"/>
            <a:r>
              <a:rPr lang="pt-BR" dirty="0"/>
              <a:t>Estado da arte em áreas (direta ou ind.) correlatas</a:t>
            </a:r>
          </a:p>
          <a:p>
            <a:pPr lvl="1"/>
            <a:r>
              <a:rPr lang="pt-BR" dirty="0"/>
              <a:t>Estado da arte da modelagem acústica “tradicional”</a:t>
            </a:r>
          </a:p>
          <a:p>
            <a:pPr lvl="1"/>
            <a:r>
              <a:rPr lang="pt-BR" dirty="0"/>
              <a:t>Potencial de inclusão de Teoria Acústica na eficiência 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Escopo:</a:t>
            </a:r>
          </a:p>
          <a:p>
            <a:pPr lvl="1"/>
            <a:r>
              <a:rPr lang="pt-BR" b="1" dirty="0"/>
              <a:t>Emulação de instrumentos acústicos</a:t>
            </a:r>
          </a:p>
          <a:p>
            <a:pPr lvl="1"/>
            <a:r>
              <a:rPr lang="pt-BR" b="1" dirty="0"/>
              <a:t>Excitação impulsiva</a:t>
            </a:r>
          </a:p>
          <a:p>
            <a:pPr lvl="1"/>
            <a:r>
              <a:rPr lang="pt-BR" b="1" dirty="0"/>
              <a:t>Tempo real</a:t>
            </a:r>
          </a:p>
          <a:p>
            <a:pPr lvl="1"/>
            <a:r>
              <a:rPr lang="pt-BR" b="1" dirty="0"/>
              <a:t>Arquiteturas Neurais consolidadas na literatura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51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 err="1"/>
              <a:t>ANNs</a:t>
            </a:r>
            <a:r>
              <a:rPr lang="pt-BR" b="1" dirty="0"/>
              <a:t>:</a:t>
            </a:r>
          </a:p>
          <a:p>
            <a:pPr lvl="1"/>
            <a:r>
              <a:rPr lang="pt-BR" dirty="0" err="1"/>
              <a:t>Wavenet</a:t>
            </a:r>
            <a:r>
              <a:rPr lang="pt-BR" dirty="0"/>
              <a:t> – bons resultados para voz</a:t>
            </a:r>
          </a:p>
          <a:p>
            <a:pPr lvl="1"/>
            <a:r>
              <a:rPr lang="pt-BR" dirty="0"/>
              <a:t>Estado da arte em áreas afins</a:t>
            </a:r>
          </a:p>
          <a:p>
            <a:pPr lvl="1"/>
            <a:r>
              <a:rPr lang="pt-BR" dirty="0"/>
              <a:t>Poucos trabalhos relacionados a síntese sonora (nenhum em tempo real)</a:t>
            </a:r>
          </a:p>
          <a:p>
            <a:r>
              <a:rPr lang="pt-BR" b="1" dirty="0"/>
              <a:t>Modelagem Acústica:</a:t>
            </a:r>
          </a:p>
          <a:p>
            <a:pPr lvl="1"/>
            <a:r>
              <a:rPr lang="pt-BR" dirty="0"/>
              <a:t>Domínio da Frequência (Modelagem Espectral)</a:t>
            </a:r>
          </a:p>
          <a:p>
            <a:pPr lvl="1"/>
            <a:r>
              <a:rPr lang="pt-BR" dirty="0"/>
              <a:t>Domínio do Tempo(Modelagem Física)</a:t>
            </a:r>
          </a:p>
          <a:p>
            <a:pPr lvl="2"/>
            <a:r>
              <a:rPr lang="pt-BR" dirty="0"/>
              <a:t>Diferenças finitas</a:t>
            </a:r>
          </a:p>
          <a:p>
            <a:pPr lvl="2"/>
            <a:r>
              <a:rPr lang="pt-BR" dirty="0"/>
              <a:t>Digital </a:t>
            </a:r>
            <a:r>
              <a:rPr lang="pt-BR" dirty="0" err="1"/>
              <a:t>Waveguides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6AFAD-44CD-4A9A-A80F-F31E495E1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810978"/>
            <a:ext cx="3923928" cy="18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ANN:</a:t>
            </a: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0AD06-DD70-46A0-8F40-D42A77010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2695"/>
            <a:ext cx="8350679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4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72AA63-AE69-4C01-A753-40ED2CEA4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4" y="548680"/>
            <a:ext cx="8816986" cy="61718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Transformada Discreta de Fourier: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25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Transformada Discreta de Fourier:</a:t>
            </a:r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1F244-B928-41C4-8593-65D248ADB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" y="1124744"/>
            <a:ext cx="9144000" cy="35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4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Transformada Discreta de Fourier: </a:t>
            </a:r>
            <a:r>
              <a:rPr lang="pt-BR" dirty="0"/>
              <a:t>Picos x Dec.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8BCC9-1A21-40BD-9877-F592A00AC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5" y="1340768"/>
            <a:ext cx="914400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Busca de Samples:</a:t>
            </a:r>
          </a:p>
          <a:p>
            <a:pPr lvl="1"/>
            <a:r>
              <a:rPr lang="pt-BR" b="1" dirty="0"/>
              <a:t>Variedade, Qualidade, Licença, Organização</a:t>
            </a:r>
          </a:p>
          <a:p>
            <a:r>
              <a:rPr lang="pt-BR" b="1" dirty="0"/>
              <a:t>Domínio do tempo:</a:t>
            </a:r>
          </a:p>
          <a:p>
            <a:pPr lvl="1"/>
            <a:r>
              <a:rPr lang="pt-BR" b="1" dirty="0"/>
              <a:t>Redes Densas – </a:t>
            </a:r>
            <a:r>
              <a:rPr lang="pt-BR" b="1" i="1" dirty="0"/>
              <a:t>Grid </a:t>
            </a:r>
            <a:r>
              <a:rPr lang="pt-BR" b="1" i="1" dirty="0" err="1"/>
              <a:t>Search</a:t>
            </a:r>
            <a:r>
              <a:rPr lang="pt-BR" b="1" dirty="0"/>
              <a:t> (Arquitetura, </a:t>
            </a:r>
            <a:r>
              <a:rPr lang="pt-BR" b="1" dirty="0" err="1"/>
              <a:t>opt,etc</a:t>
            </a:r>
            <a:r>
              <a:rPr lang="pt-BR" b="1" dirty="0"/>
              <a:t>)</a:t>
            </a:r>
          </a:p>
          <a:p>
            <a:pPr lvl="1"/>
            <a:r>
              <a:rPr lang="pt-BR" b="1" dirty="0"/>
              <a:t>Redes Recorrentes + </a:t>
            </a:r>
            <a:r>
              <a:rPr lang="pt-BR" b="1" dirty="0" err="1"/>
              <a:t>Conv</a:t>
            </a:r>
            <a:r>
              <a:rPr lang="pt-BR" b="1" dirty="0"/>
              <a:t>. alisada</a:t>
            </a:r>
          </a:p>
          <a:p>
            <a:r>
              <a:rPr lang="pt-BR" b="1" dirty="0"/>
              <a:t>Domínio da Frequência:</a:t>
            </a:r>
          </a:p>
          <a:p>
            <a:pPr lvl="1"/>
            <a:r>
              <a:rPr lang="pt-BR" b="1" dirty="0"/>
              <a:t>Representações</a:t>
            </a:r>
          </a:p>
          <a:p>
            <a:pPr lvl="1"/>
            <a:r>
              <a:rPr lang="pt-BR" b="1" dirty="0"/>
              <a:t>Aplicação direta de redes Densas</a:t>
            </a:r>
          </a:p>
          <a:p>
            <a:pPr lvl="1"/>
            <a:r>
              <a:rPr lang="pt-BR" b="1" dirty="0"/>
              <a:t>Aplicação fisicamente informada</a:t>
            </a:r>
          </a:p>
          <a:p>
            <a:r>
              <a:rPr lang="pt-BR" b="1" dirty="0"/>
              <a:t>Modelos Tradicionais</a:t>
            </a:r>
          </a:p>
          <a:p>
            <a:pPr lvl="1"/>
            <a:r>
              <a:rPr lang="pt-BR" b="1" dirty="0"/>
              <a:t>Implementação e análise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581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Domínio do Tempo:</a:t>
            </a:r>
          </a:p>
          <a:p>
            <a:pPr lvl="1"/>
            <a:r>
              <a:rPr lang="pt-BR" b="1" dirty="0"/>
              <a:t>Ineficiente, pode ser beneficiado pelo desenvolvimentos de algoritmos de extração de envelope</a:t>
            </a:r>
          </a:p>
          <a:p>
            <a:r>
              <a:rPr lang="pt-BR" b="1" dirty="0"/>
              <a:t>Domínio da Frequência:</a:t>
            </a:r>
          </a:p>
          <a:p>
            <a:pPr lvl="1"/>
            <a:r>
              <a:rPr lang="pt-BR" b="1" dirty="0"/>
              <a:t>Método Direto: Funcional para sons mal comportados(percussão)</a:t>
            </a:r>
          </a:p>
          <a:p>
            <a:pPr lvl="1"/>
            <a:r>
              <a:rPr lang="pt-BR" b="1" dirty="0"/>
              <a:t>Método Fisicamente informado:</a:t>
            </a:r>
          </a:p>
          <a:p>
            <a:pPr lvl="2"/>
            <a:r>
              <a:rPr lang="pt-BR" b="1" dirty="0"/>
              <a:t>Ideal para instrumentos harmônicos</a:t>
            </a:r>
          </a:p>
          <a:p>
            <a:pPr lvl="2"/>
            <a:r>
              <a:rPr lang="pt-BR" b="1" dirty="0"/>
              <a:t>Eficiência 10x melhor do que Digital </a:t>
            </a:r>
            <a:r>
              <a:rPr lang="pt-BR" b="1" dirty="0" err="1"/>
              <a:t>Waveguides</a:t>
            </a:r>
            <a:endParaRPr lang="pt-BR" b="1" dirty="0"/>
          </a:p>
          <a:p>
            <a:pPr lvl="2"/>
            <a:r>
              <a:rPr lang="pt-BR" b="1" dirty="0"/>
              <a:t>Verossimilhança comparável a diferenças finitas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3633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Contribuições:</a:t>
            </a:r>
          </a:p>
          <a:p>
            <a:pPr lvl="1"/>
            <a:r>
              <a:rPr lang="pt-BR" b="1" dirty="0"/>
              <a:t>Apresenta um modelo mais eficiente para modelagem acústica</a:t>
            </a:r>
          </a:p>
          <a:p>
            <a:pPr lvl="1"/>
            <a:r>
              <a:rPr lang="pt-BR" b="1" dirty="0"/>
              <a:t>Aponta uma nova área de pesquisa, na interseção entre acústica e redes neurais</a:t>
            </a:r>
          </a:p>
          <a:p>
            <a:pPr lvl="1"/>
            <a:r>
              <a:rPr lang="pt-BR" b="1" dirty="0"/>
              <a:t>Apresenta alguns potenciais e limitações dessa área, no domínio do tempo e da frequência</a:t>
            </a:r>
          </a:p>
          <a:p>
            <a:pPr lvl="1"/>
            <a:r>
              <a:rPr lang="pt-BR" b="1" dirty="0"/>
              <a:t>Interpretação geométrica da simetria da transformada discreta de Fourier aplicada à sinais no domínio real.</a:t>
            </a:r>
          </a:p>
          <a:p>
            <a:pPr lvl="1"/>
            <a:r>
              <a:rPr lang="pt-BR" b="1" dirty="0"/>
              <a:t>Relação entre envelopes (domínio do tempo) e formato das elevações (domínio da frequência)</a:t>
            </a:r>
          </a:p>
          <a:p>
            <a:pPr marL="0" indent="0">
              <a:buNone/>
            </a:pPr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22649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Oportunidades de Pesquisa:</a:t>
            </a:r>
          </a:p>
          <a:p>
            <a:pPr lvl="1"/>
            <a:r>
              <a:rPr lang="pt-BR" b="1" dirty="0"/>
              <a:t>Desenvolvimento de um método de extração de envelopes (possivelmente analítico)</a:t>
            </a:r>
          </a:p>
          <a:p>
            <a:pPr lvl="1"/>
            <a:r>
              <a:rPr lang="pt-BR" b="1" dirty="0"/>
              <a:t>Retomar </a:t>
            </a:r>
            <a:r>
              <a:rPr lang="pt-BR" b="1" i="1" dirty="0" err="1"/>
              <a:t>autoencoders</a:t>
            </a:r>
            <a:r>
              <a:rPr lang="pt-BR" b="1" dirty="0"/>
              <a:t> com esse método &gt; </a:t>
            </a:r>
            <a:r>
              <a:rPr lang="pt-BR" b="1" i="1" dirty="0" err="1"/>
              <a:t>Style</a:t>
            </a:r>
            <a:r>
              <a:rPr lang="pt-BR" b="1" i="1" dirty="0"/>
              <a:t> </a:t>
            </a:r>
            <a:r>
              <a:rPr lang="pt-BR" b="1" i="1" dirty="0" err="1"/>
              <a:t>transfer</a:t>
            </a:r>
            <a:endParaRPr lang="pt-BR" b="1" i="1" dirty="0"/>
          </a:p>
          <a:p>
            <a:pPr lvl="1"/>
            <a:r>
              <a:rPr lang="pt-BR" b="1" dirty="0"/>
              <a:t>Utilizar Diferenças Finitas para treinar um algoritmo “Neural </a:t>
            </a:r>
            <a:r>
              <a:rPr lang="pt-BR" b="1" dirty="0" err="1"/>
              <a:t>Waveguides</a:t>
            </a:r>
            <a:r>
              <a:rPr lang="pt-BR" b="1" dirty="0"/>
              <a:t>”</a:t>
            </a:r>
          </a:p>
          <a:p>
            <a:pPr lvl="1"/>
            <a:r>
              <a:rPr lang="pt-BR" b="1" dirty="0"/>
              <a:t>Utilizar </a:t>
            </a:r>
            <a:r>
              <a:rPr lang="pt-BR" b="1" dirty="0" err="1"/>
              <a:t>ANNs</a:t>
            </a:r>
            <a:r>
              <a:rPr lang="pt-BR" b="1" dirty="0"/>
              <a:t> no lugar de funções utilizadas em modelos acústicos </a:t>
            </a:r>
            <a:r>
              <a:rPr lang="pt-BR" b="1"/>
              <a:t>mais elaborados</a:t>
            </a:r>
            <a:endParaRPr lang="pt-BR" b="1" dirty="0"/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32805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439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Helvetica</vt:lpstr>
      <vt:lpstr>Times New Roman</vt:lpstr>
      <vt:lpstr>Tema do Office</vt:lpstr>
      <vt:lpstr>Imagem de Bitmap</vt:lpstr>
      <vt:lpstr>Redes Neurais Aplicadas à Modelagem de Instrumentos Acústicos para Síntese Sonora em Tempo Real</vt:lpstr>
      <vt:lpstr>Introdução</vt:lpstr>
      <vt:lpstr>Introdução</vt:lpstr>
      <vt:lpstr>Revisão Bibliográfica</vt:lpstr>
      <vt:lpstr>Referencial Teórico</vt:lpstr>
      <vt:lpstr>Referencial Teórico</vt:lpstr>
      <vt:lpstr>Referencial Teórico</vt:lpstr>
      <vt:lpstr>Referencial Teórico</vt:lpstr>
      <vt:lpstr>Metodologia</vt:lpstr>
      <vt:lpstr>Resultados</vt:lpstr>
      <vt:lpstr>Conclusão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da Tese ou Dissertação</dc:title>
  <dc:creator>Helder</dc:creator>
  <cp:lastModifiedBy>Carlos Tarjano</cp:lastModifiedBy>
  <cp:revision>29</cp:revision>
  <dcterms:created xsi:type="dcterms:W3CDTF">2014-11-21T14:48:12Z</dcterms:created>
  <dcterms:modified xsi:type="dcterms:W3CDTF">2018-07-03T13:11:44Z</dcterms:modified>
</cp:coreProperties>
</file>