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ebm" ContentType="video/webm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3" r:id="rId5"/>
    <p:sldId id="273" r:id="rId6"/>
    <p:sldId id="265" r:id="rId7"/>
    <p:sldId id="270" r:id="rId8"/>
    <p:sldId id="272" r:id="rId9"/>
    <p:sldId id="271" r:id="rId10"/>
    <p:sldId id="266" r:id="rId11"/>
    <p:sldId id="275" r:id="rId12"/>
    <p:sldId id="276" r:id="rId13"/>
    <p:sldId id="267" r:id="rId14"/>
    <p:sldId id="277" r:id="rId15"/>
    <p:sldId id="268" r:id="rId16"/>
    <p:sldId id="269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24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ECADB-1B7B-457B-9631-97F8B5145922}" type="datetimeFigureOut">
              <a:rPr lang="pt-BR" smtClean="0"/>
              <a:t>03/07/2018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9D8D2-A124-49A1-87CA-670470D8937B}" type="slidenum">
              <a:rPr lang="pt-BR" smtClean="0"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2.webm"/><Relationship Id="rId7" Type="http://schemas.openxmlformats.org/officeDocument/2006/relationships/image" Target="../media/image5.png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webm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FFT-Time-Frequency-View.png#/media/File:FFT-Time-Frequency-View.p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Redes Neurais Aplicadas à Modelagem de Instrumentos Acústicos para Síntese Sonora em Tempo Real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2088232"/>
          </a:xfrm>
        </p:spPr>
        <p:txBody>
          <a:bodyPr>
            <a:noAutofit/>
          </a:bodyPr>
          <a:lstStyle/>
          <a:p>
            <a:r>
              <a:rPr lang="pt-BR" sz="2000" dirty="0">
                <a:latin typeface="Helvetica" pitchFamily="34" charset="0"/>
              </a:rPr>
              <a:t>por</a:t>
            </a:r>
          </a:p>
          <a:p>
            <a:r>
              <a:rPr lang="pt-BR" sz="2000" dirty="0">
                <a:latin typeface="Helvetica" pitchFamily="34" charset="0"/>
              </a:rPr>
              <a:t>Carlos Tarjano</a:t>
            </a:r>
          </a:p>
          <a:p>
            <a:endParaRPr lang="pt-BR" sz="2000" dirty="0">
              <a:latin typeface="Helvetica" pitchFamily="34" charset="0"/>
            </a:endParaRPr>
          </a:p>
          <a:p>
            <a:r>
              <a:rPr lang="pt-BR" sz="1600" dirty="0">
                <a:latin typeface="Helvetica" pitchFamily="34" charset="0"/>
              </a:rPr>
              <a:t>Prof. Dr. </a:t>
            </a:r>
            <a:r>
              <a:rPr lang="pt-BR" sz="1600" dirty="0" err="1">
                <a:latin typeface="Helvetica" pitchFamily="34" charset="0"/>
              </a:rPr>
              <a:t>Valdecy</a:t>
            </a:r>
            <a:r>
              <a:rPr lang="pt-BR" sz="1600" dirty="0">
                <a:latin typeface="Helvetica" pitchFamily="34" charset="0"/>
              </a:rPr>
              <a:t> Pereira, (Prof. Orientador)</a:t>
            </a:r>
          </a:p>
          <a:p>
            <a:endParaRPr lang="pt-BR" sz="1600" dirty="0">
              <a:latin typeface="Helvetica" pitchFamily="34" charset="0"/>
            </a:endParaRPr>
          </a:p>
          <a:p>
            <a:endParaRPr lang="pt-BR" sz="1600" dirty="0">
              <a:latin typeface="Helvetica" pitchFamily="34" charset="0"/>
            </a:endParaRPr>
          </a:p>
          <a:p>
            <a:r>
              <a:rPr lang="pt-BR" sz="1600" dirty="0">
                <a:latin typeface="Helvetica" pitchFamily="34" charset="0"/>
              </a:rPr>
              <a:t>Niterói, 04 de Julho de 2018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-1"/>
          <a:ext cx="1043608" cy="1155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Imagem de Bitmap" r:id="rId3" imgW="847843" imgH="942857" progId="Paint.Picture">
                  <p:embed/>
                </p:oleObj>
              </mc:Choice>
              <mc:Fallback>
                <p:oleObj name="Imagem de Bitmap" r:id="rId3" imgW="847843" imgH="942857" progId="Paint.Picture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-1"/>
                        <a:ext cx="1043608" cy="11559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6322" y="-27384"/>
            <a:ext cx="1360152" cy="1224136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187624" y="332656"/>
            <a:ext cx="624029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29238" algn="l"/>
              </a:tabLst>
            </a:pPr>
            <a:r>
              <a:rPr kumimoji="0" 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  <a:ea typeface="Times New Roman" pitchFamily="18" charset="0"/>
                <a:cs typeface="Arial" pitchFamily="34" charset="0"/>
              </a:rPr>
              <a:t>UNIVERSIDADE FEDERAL FLUMINENSE</a:t>
            </a:r>
            <a:endParaRPr kumimoji="0" 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29238" algn="l"/>
              </a:tabLst>
            </a:pPr>
            <a:r>
              <a:rPr kumimoji="0" 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  <a:ea typeface="Times New Roman" pitchFamily="18" charset="0"/>
                <a:cs typeface="Arial" pitchFamily="34" charset="0"/>
              </a:rPr>
              <a:t>ESCOLA DE ENGENHARIA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29238" algn="l"/>
              </a:tabLst>
            </a:pPr>
            <a:r>
              <a:rPr kumimoji="0" 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  <a:ea typeface="Times New Roman" pitchFamily="18" charset="0"/>
                <a:cs typeface="Arial" pitchFamily="34" charset="0"/>
              </a:rPr>
              <a:t>PROGRAMA DE PÓS-GRADUAÇÃO EM ENGENHARIA DE PRODUÇÃO</a:t>
            </a:r>
            <a:r>
              <a:rPr kumimoji="0" 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  <a:cs typeface="Arial" pitchFamily="34" charset="0"/>
              </a:rPr>
              <a:t> </a:t>
            </a:r>
          </a:p>
        </p:txBody>
      </p:sp>
      <p:cxnSp>
        <p:nvCxnSpPr>
          <p:cNvPr id="9" name="Conector reto 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Motivação:</a:t>
            </a:r>
          </a:p>
          <a:p>
            <a:pPr lvl="1"/>
            <a:r>
              <a:rPr lang="pt-BR" dirty="0" err="1"/>
              <a:t>ANNs</a:t>
            </a:r>
            <a:r>
              <a:rPr lang="pt-BR" dirty="0"/>
              <a:t> aplicadas com sucesso em várias áreas</a:t>
            </a:r>
          </a:p>
          <a:p>
            <a:pPr lvl="1"/>
            <a:r>
              <a:rPr lang="pt-BR" dirty="0"/>
              <a:t>Estado da arte em áreas afins</a:t>
            </a:r>
          </a:p>
          <a:p>
            <a:pPr lvl="1"/>
            <a:r>
              <a:rPr lang="pt-BR" dirty="0"/>
              <a:t>Poucos trabalhos relacionados a síntese sonora (nenhum em tempo real)</a:t>
            </a:r>
          </a:p>
          <a:p>
            <a:pPr lvl="1"/>
            <a:r>
              <a:rPr lang="pt-BR" dirty="0"/>
              <a:t>Indústria de DMI “estagnada”</a:t>
            </a:r>
          </a:p>
          <a:p>
            <a:r>
              <a:rPr lang="pt-BR" b="1" dirty="0"/>
              <a:t>Objetivo: </a:t>
            </a:r>
            <a:r>
              <a:rPr lang="pt-BR" dirty="0"/>
              <a:t>Elaborar um modelo baseado em </a:t>
            </a:r>
            <a:r>
              <a:rPr lang="pt-BR" dirty="0" err="1"/>
              <a:t>ANNs</a:t>
            </a:r>
            <a:r>
              <a:rPr lang="pt-BR" dirty="0"/>
              <a:t> para emulação de instrumentos em tempo real</a:t>
            </a:r>
          </a:p>
          <a:p>
            <a:pPr lvl="1"/>
            <a:r>
              <a:rPr lang="pt-BR" dirty="0"/>
              <a:t>Mapear o estado da arte em áreas (direta ou ind.) correlatas</a:t>
            </a:r>
          </a:p>
          <a:p>
            <a:pPr lvl="1"/>
            <a:r>
              <a:rPr lang="pt-BR" dirty="0"/>
              <a:t>Mapear o estado da arte da modelagem acústica “tradicional”</a:t>
            </a:r>
          </a:p>
          <a:p>
            <a:pPr lvl="1"/>
            <a:r>
              <a:rPr lang="pt-BR" dirty="0"/>
              <a:t>Potencial de inclusão de teoria acústica na eficiência 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Escopo:</a:t>
            </a:r>
          </a:p>
          <a:p>
            <a:pPr lvl="1"/>
            <a:r>
              <a:rPr lang="pt-BR" b="1" dirty="0"/>
              <a:t>Emulação de instrumentos acústicos</a:t>
            </a:r>
          </a:p>
          <a:p>
            <a:pPr lvl="1"/>
            <a:r>
              <a:rPr lang="pt-BR" b="1" dirty="0"/>
              <a:t>Excitação impulsiva</a:t>
            </a:r>
          </a:p>
          <a:p>
            <a:pPr lvl="1"/>
            <a:r>
              <a:rPr lang="pt-BR" b="1" dirty="0"/>
              <a:t>Tempo real</a:t>
            </a:r>
          </a:p>
          <a:p>
            <a:pPr lvl="1"/>
            <a:r>
              <a:rPr lang="pt-BR" b="1" dirty="0"/>
              <a:t>Arquiteturas Neurais consolidadas na literatura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851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Revisão Bibliográfica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 err="1"/>
              <a:t>ANNs</a:t>
            </a:r>
            <a:r>
              <a:rPr lang="pt-BR" b="1" dirty="0"/>
              <a:t>:</a:t>
            </a:r>
          </a:p>
          <a:p>
            <a:pPr lvl="1"/>
            <a:r>
              <a:rPr lang="pt-BR" dirty="0" err="1"/>
              <a:t>Wavenet</a:t>
            </a:r>
            <a:r>
              <a:rPr lang="pt-BR" dirty="0"/>
              <a:t> – bons resultados para voz (Magenta)</a:t>
            </a:r>
          </a:p>
          <a:p>
            <a:pPr lvl="1"/>
            <a:r>
              <a:rPr lang="pt-BR" dirty="0"/>
              <a:t>Alguns trabalhos experimentais no princípio</a:t>
            </a:r>
          </a:p>
          <a:p>
            <a:pPr lvl="1"/>
            <a:r>
              <a:rPr lang="pt-BR" b="1" dirty="0"/>
              <a:t>Modelagem Acústica:</a:t>
            </a:r>
          </a:p>
          <a:p>
            <a:pPr lvl="1"/>
            <a:r>
              <a:rPr lang="pt-BR" dirty="0"/>
              <a:t>Domínio da Frequência (Modelagem Espectral)</a:t>
            </a:r>
          </a:p>
          <a:p>
            <a:pPr lvl="1"/>
            <a:r>
              <a:rPr lang="pt-BR" dirty="0"/>
              <a:t>Domínio do Tempo(Modelagem Física)</a:t>
            </a:r>
          </a:p>
          <a:p>
            <a:pPr lvl="2"/>
            <a:r>
              <a:rPr lang="pt-BR" dirty="0"/>
              <a:t>Diferenças finitas</a:t>
            </a:r>
          </a:p>
          <a:p>
            <a:pPr lvl="2"/>
            <a:r>
              <a:rPr lang="pt-BR" dirty="0"/>
              <a:t>Digital </a:t>
            </a:r>
            <a:r>
              <a:rPr lang="pt-BR" dirty="0" err="1"/>
              <a:t>Waveguides</a:t>
            </a:r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6AFAD-44CD-4A9A-A80F-F31E495E18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797152"/>
            <a:ext cx="3923928" cy="186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6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DigitalWaveguide">
            <a:hlinkClick r:id="" action="ppaction://media"/>
            <a:extLst>
              <a:ext uri="{FF2B5EF4-FFF2-40B4-BE49-F238E27FC236}">
                <a16:creationId xmlns:a16="http://schemas.microsoft.com/office/drawing/2014/main" id="{3A104A3C-9617-43E4-A2AD-0CACF759CE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47674" y="3346886"/>
            <a:ext cx="8248649" cy="3511115"/>
          </a:xfrm>
          <a:prstGeom prst="rect">
            <a:avLst/>
          </a:prstGeom>
        </p:spPr>
      </p:pic>
      <p:pic>
        <p:nvPicPr>
          <p:cNvPr id="11" name="FiniteDifference">
            <a:hlinkClick r:id="" action="ppaction://media"/>
            <a:extLst>
              <a:ext uri="{FF2B5EF4-FFF2-40B4-BE49-F238E27FC236}">
                <a16:creationId xmlns:a16="http://schemas.microsoft.com/office/drawing/2014/main" id="{EBD8D69A-5E37-4294-8D6E-C2D9BC5C741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7675" y="47625"/>
            <a:ext cx="82486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8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70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170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Referencial Teórico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ANN:</a:t>
            </a:r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C0AD06-DD70-46A0-8F40-D42A77010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82695"/>
            <a:ext cx="8350679" cy="30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48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72AA63-AE69-4C01-A753-40ED2CEA4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64" y="548680"/>
            <a:ext cx="8816986" cy="61718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Referencial Teórico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5"/>
            <a:ext cx="9140514" cy="689627"/>
          </a:xfrm>
        </p:spPr>
        <p:txBody>
          <a:bodyPr>
            <a:normAutofit fontScale="85000" lnSpcReduction="10000"/>
          </a:bodyPr>
          <a:lstStyle/>
          <a:p>
            <a:r>
              <a:rPr lang="pt-BR" b="1" dirty="0"/>
              <a:t>Transformada Discreta de Fourier: (</a:t>
            </a:r>
            <a:r>
              <a:rPr lang="pt-BR" dirty="0">
                <a:hlinkClick r:id="rId3"/>
              </a:rPr>
              <a:t> </a:t>
            </a:r>
            <a:r>
              <a:rPr lang="pt-BR" dirty="0" err="1">
                <a:hlinkClick r:id="rId3"/>
              </a:rPr>
              <a:t>Wikimedia</a:t>
            </a:r>
            <a:r>
              <a:rPr lang="pt-BR" dirty="0">
                <a:hlinkClick r:id="rId3"/>
              </a:rPr>
              <a:t> Commons</a:t>
            </a:r>
            <a:r>
              <a:rPr lang="pt-BR" dirty="0"/>
              <a:t> )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251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Referencial Teórico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Transformada Discreta de Fourier:</a:t>
            </a:r>
            <a:endParaRPr lang="pt-B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1F244-B928-41C4-8593-65D248ADB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" y="1124744"/>
            <a:ext cx="9144000" cy="573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42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Referencial Teórico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Transformada Discreta de Fourier: </a:t>
            </a:r>
            <a:r>
              <a:rPr lang="pt-BR" dirty="0"/>
              <a:t>Picos x Dec.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8BCC9-1A21-40BD-9877-F592A00AC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5" y="1340768"/>
            <a:ext cx="9144000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81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/>
          <a:lstStyle/>
          <a:p>
            <a:r>
              <a:rPr lang="pt-BR" b="1" dirty="0"/>
              <a:t>Busca de Samples:</a:t>
            </a:r>
          </a:p>
          <a:p>
            <a:pPr lvl="1"/>
            <a:r>
              <a:rPr lang="pt-BR" b="1" dirty="0"/>
              <a:t>Variedade, Qualidade, Licença, Organização</a:t>
            </a:r>
          </a:p>
          <a:p>
            <a:r>
              <a:rPr lang="pt-BR" b="1" dirty="0"/>
              <a:t>Domínio do tempo:</a:t>
            </a:r>
          </a:p>
          <a:p>
            <a:pPr lvl="1"/>
            <a:r>
              <a:rPr lang="pt-BR" b="1" dirty="0"/>
              <a:t>Redes Densas – </a:t>
            </a:r>
            <a:r>
              <a:rPr lang="pt-BR" b="1" i="1" dirty="0"/>
              <a:t>Grid </a:t>
            </a:r>
            <a:r>
              <a:rPr lang="pt-BR" b="1" i="1" dirty="0" err="1"/>
              <a:t>Search</a:t>
            </a:r>
            <a:r>
              <a:rPr lang="pt-BR" b="1" dirty="0"/>
              <a:t> (Arquitetura, </a:t>
            </a:r>
            <a:r>
              <a:rPr lang="pt-BR" b="1" dirty="0" err="1"/>
              <a:t>opt,etc</a:t>
            </a:r>
            <a:r>
              <a:rPr lang="pt-BR" b="1" dirty="0"/>
              <a:t>)</a:t>
            </a:r>
          </a:p>
          <a:p>
            <a:pPr lvl="1"/>
            <a:r>
              <a:rPr lang="pt-BR" b="1" dirty="0"/>
              <a:t>Redes Recorrentes + </a:t>
            </a:r>
            <a:r>
              <a:rPr lang="pt-BR" b="1" dirty="0" err="1"/>
              <a:t>Conv</a:t>
            </a:r>
            <a:r>
              <a:rPr lang="pt-BR" b="1" dirty="0"/>
              <a:t>. alisada</a:t>
            </a:r>
          </a:p>
          <a:p>
            <a:r>
              <a:rPr lang="pt-BR" b="1" dirty="0"/>
              <a:t>Domínio da Frequência:</a:t>
            </a:r>
          </a:p>
          <a:p>
            <a:pPr lvl="1"/>
            <a:r>
              <a:rPr lang="pt-BR" b="1" dirty="0"/>
              <a:t>Representações</a:t>
            </a:r>
          </a:p>
          <a:p>
            <a:pPr lvl="1"/>
            <a:r>
              <a:rPr lang="pt-BR" b="1" dirty="0"/>
              <a:t>Aplicação direta de redes Densas</a:t>
            </a:r>
          </a:p>
          <a:p>
            <a:pPr lvl="1"/>
            <a:r>
              <a:rPr lang="pt-BR" b="1" dirty="0"/>
              <a:t>Aplicação fisicamente informada</a:t>
            </a:r>
          </a:p>
          <a:p>
            <a:r>
              <a:rPr lang="pt-BR" b="1" dirty="0"/>
              <a:t>Modelos Tradicionais</a:t>
            </a:r>
          </a:p>
          <a:p>
            <a:pPr lvl="1"/>
            <a:r>
              <a:rPr lang="pt-BR" b="1" dirty="0"/>
              <a:t>Implementação e análise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5817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>
            <a:normAutofit/>
          </a:bodyPr>
          <a:lstStyle/>
          <a:p>
            <a:r>
              <a:rPr lang="pt-BR" b="1" dirty="0"/>
              <a:t>Domínio do Tempo:</a:t>
            </a:r>
          </a:p>
          <a:p>
            <a:pPr lvl="1"/>
            <a:r>
              <a:rPr lang="pt-BR" b="1" dirty="0"/>
              <a:t>Ineficiente, pode ser beneficiado pelo desenvolvimentos de algoritmos de extração de </a:t>
            </a:r>
            <a:r>
              <a:rPr lang="pt-BR" b="1" dirty="0" err="1"/>
              <a:t>envelopetas</a:t>
            </a:r>
            <a:endParaRPr lang="pt-BR" b="1" dirty="0"/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4F10B-8CD7-48D8-A1E1-6B2436E38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6912"/>
            <a:ext cx="9144000" cy="420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10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32E19A-5B76-407B-9DAC-2D48894B4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1" y="178308"/>
            <a:ext cx="9144000" cy="650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28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>
            <a:normAutofit/>
          </a:bodyPr>
          <a:lstStyle/>
          <a:p>
            <a:r>
              <a:rPr lang="pt-BR" b="1" dirty="0"/>
              <a:t>Domínio da Frequência:</a:t>
            </a:r>
          </a:p>
          <a:p>
            <a:pPr lvl="1"/>
            <a:r>
              <a:rPr lang="pt-BR" b="1" dirty="0"/>
              <a:t>Método Direto: Funcional para sons mal comportados(percussão)</a:t>
            </a:r>
          </a:p>
          <a:p>
            <a:pPr lvl="1"/>
            <a:r>
              <a:rPr lang="pt-BR" b="1" dirty="0"/>
              <a:t>Método Fisicamente informado:</a:t>
            </a:r>
          </a:p>
          <a:p>
            <a:pPr lvl="2"/>
            <a:r>
              <a:rPr lang="pt-BR" b="1" dirty="0"/>
              <a:t>Ideal para instrumentos harmônicos</a:t>
            </a:r>
          </a:p>
          <a:p>
            <a:pPr lvl="2"/>
            <a:r>
              <a:rPr lang="pt-BR" b="1" dirty="0"/>
              <a:t>Eficiência 10x melhor do que Digital </a:t>
            </a:r>
            <a:r>
              <a:rPr lang="pt-BR" b="1" dirty="0" err="1"/>
              <a:t>Waveguides</a:t>
            </a:r>
            <a:endParaRPr lang="pt-BR" b="1" dirty="0"/>
          </a:p>
          <a:p>
            <a:pPr lvl="2"/>
            <a:r>
              <a:rPr lang="pt-BR" b="1" dirty="0"/>
              <a:t>Verossimilhança comparável a diferenças finitas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2ADC37-E9C8-4C91-9918-5E014D9D8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34" y="4510503"/>
            <a:ext cx="9144000" cy="236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332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5EFDEFA-C4E5-418F-B187-ECCACD34C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6" y="3140968"/>
            <a:ext cx="914400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B0BF33-FF3C-4425-8832-8817F3320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192"/>
            <a:ext cx="9144000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970FA2-3AD5-49EB-8433-A9D585585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9144000" cy="182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F056CB-7F18-4568-8C32-D472A515B5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7756"/>
            <a:ext cx="9144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6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>
            <a:normAutofit/>
          </a:bodyPr>
          <a:lstStyle/>
          <a:p>
            <a:r>
              <a:rPr lang="pt-BR" b="1" dirty="0"/>
              <a:t>Contribuições:</a:t>
            </a:r>
          </a:p>
          <a:p>
            <a:pPr lvl="1"/>
            <a:r>
              <a:rPr lang="pt-BR" b="1" dirty="0"/>
              <a:t>Apresenta um modelo mais eficiente para modelagem acústica</a:t>
            </a:r>
          </a:p>
          <a:p>
            <a:pPr lvl="1"/>
            <a:r>
              <a:rPr lang="pt-BR" b="1" dirty="0"/>
              <a:t>Aponta uma nova área de pesquisa, na interseção entre acústica e redes neurais</a:t>
            </a:r>
          </a:p>
          <a:p>
            <a:pPr lvl="1"/>
            <a:r>
              <a:rPr lang="pt-BR" b="1" dirty="0"/>
              <a:t>Apresenta alguns potenciais e limitações dessa área, no domínio do tempo e da frequência</a:t>
            </a:r>
          </a:p>
          <a:p>
            <a:pPr lvl="1"/>
            <a:r>
              <a:rPr lang="pt-BR" b="1" dirty="0"/>
              <a:t>Interpretação geométrica da simetria da transformada discreta de Fourier aplicada à sinais no domínio real.</a:t>
            </a:r>
          </a:p>
          <a:p>
            <a:pPr lvl="1"/>
            <a:r>
              <a:rPr lang="pt-BR" b="1" dirty="0"/>
              <a:t>Relação entre envelopes (domínio do tempo) e formato das elevações (domínio da frequência)</a:t>
            </a:r>
          </a:p>
          <a:p>
            <a:pPr marL="0" indent="0">
              <a:buNone/>
            </a:pPr>
            <a:r>
              <a:rPr lang="pt-BR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226491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" y="3070"/>
            <a:ext cx="9140515" cy="833642"/>
          </a:xfrm>
        </p:spPr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696"/>
            <a:ext cx="9140514" cy="6165304"/>
          </a:xfrm>
        </p:spPr>
        <p:txBody>
          <a:bodyPr>
            <a:normAutofit/>
          </a:bodyPr>
          <a:lstStyle/>
          <a:p>
            <a:r>
              <a:rPr lang="pt-BR" b="1" dirty="0"/>
              <a:t>Oportunidades de Pesquisa:</a:t>
            </a:r>
          </a:p>
          <a:p>
            <a:pPr lvl="1"/>
            <a:r>
              <a:rPr lang="pt-BR" b="1" dirty="0"/>
              <a:t>Desenvolvimento de um método de extração de envelopes (possivelmente analítico)</a:t>
            </a:r>
          </a:p>
          <a:p>
            <a:pPr lvl="1"/>
            <a:r>
              <a:rPr lang="pt-BR" b="1" dirty="0"/>
              <a:t>Retomar </a:t>
            </a:r>
            <a:r>
              <a:rPr lang="pt-BR" b="1" i="1" dirty="0" err="1"/>
              <a:t>autoencoders</a:t>
            </a:r>
            <a:r>
              <a:rPr lang="pt-BR" b="1" dirty="0"/>
              <a:t> com esse método &gt; </a:t>
            </a:r>
            <a:r>
              <a:rPr lang="pt-BR" b="1" i="1" dirty="0" err="1"/>
              <a:t>Style</a:t>
            </a:r>
            <a:r>
              <a:rPr lang="pt-BR" b="1" i="1" dirty="0"/>
              <a:t> </a:t>
            </a:r>
            <a:r>
              <a:rPr lang="pt-BR" b="1" i="1" dirty="0" err="1"/>
              <a:t>transfer</a:t>
            </a:r>
            <a:endParaRPr lang="pt-BR" b="1" i="1" dirty="0"/>
          </a:p>
          <a:p>
            <a:pPr lvl="1"/>
            <a:r>
              <a:rPr lang="pt-BR" b="1" dirty="0"/>
              <a:t>Utilizar Diferenças Finitas para treinar um algoritmo “Neural </a:t>
            </a:r>
            <a:r>
              <a:rPr lang="pt-BR" b="1" dirty="0" err="1"/>
              <a:t>Waveguides</a:t>
            </a:r>
            <a:r>
              <a:rPr lang="pt-BR" b="1" dirty="0"/>
              <a:t>”</a:t>
            </a:r>
          </a:p>
          <a:p>
            <a:pPr lvl="1"/>
            <a:r>
              <a:rPr lang="pt-BR" b="1" dirty="0"/>
              <a:t>Utilizar </a:t>
            </a:r>
            <a:r>
              <a:rPr lang="pt-BR" b="1" dirty="0" err="1"/>
              <a:t>ANNs</a:t>
            </a:r>
            <a:r>
              <a:rPr lang="pt-BR" b="1" dirty="0"/>
              <a:t> no lugar de funções utilizadas em modelos acústicos </a:t>
            </a:r>
            <a:r>
              <a:rPr lang="pt-BR" b="1"/>
              <a:t>mais elaborados</a:t>
            </a:r>
            <a:endParaRPr lang="pt-BR" b="1" dirty="0"/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328053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445</Words>
  <Application>Microsoft Office PowerPoint</Application>
  <PresentationFormat>On-screen Show (4:3)</PresentationFormat>
  <Paragraphs>90</Paragraphs>
  <Slides>16</Slides>
  <Notes>0</Notes>
  <HiddenSlides>0</HiddenSlides>
  <MMClips>2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Helvetica</vt:lpstr>
      <vt:lpstr>Times New Roman</vt:lpstr>
      <vt:lpstr>Tema do Office</vt:lpstr>
      <vt:lpstr>Imagem de Bitmap</vt:lpstr>
      <vt:lpstr>Redes Neurais Aplicadas à Modelagem de Instrumentos Acústicos para Síntese Sonora em Tempo Real</vt:lpstr>
      <vt:lpstr>Introdução</vt:lpstr>
      <vt:lpstr>Introdução</vt:lpstr>
      <vt:lpstr>Revisão Bibliográfica</vt:lpstr>
      <vt:lpstr>PowerPoint Presentation</vt:lpstr>
      <vt:lpstr>Referencial Teórico</vt:lpstr>
      <vt:lpstr>Referencial Teórico</vt:lpstr>
      <vt:lpstr>Referencial Teórico</vt:lpstr>
      <vt:lpstr>Referencial Teórico</vt:lpstr>
      <vt:lpstr>Metodologia</vt:lpstr>
      <vt:lpstr>Resultados</vt:lpstr>
      <vt:lpstr>PowerPoint Presentation</vt:lpstr>
      <vt:lpstr>Resultados</vt:lpstr>
      <vt:lpstr>PowerPoint Presentation</vt:lpstr>
      <vt:lpstr>Conclusão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da Tese ou Dissertação</dc:title>
  <dc:creator>Helder</dc:creator>
  <cp:lastModifiedBy>Carlos Tarjano</cp:lastModifiedBy>
  <cp:revision>40</cp:revision>
  <dcterms:created xsi:type="dcterms:W3CDTF">2014-11-21T14:48:12Z</dcterms:created>
  <dcterms:modified xsi:type="dcterms:W3CDTF">2018-07-04T03:18:32Z</dcterms:modified>
</cp:coreProperties>
</file>